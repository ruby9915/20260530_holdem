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2000" cy="5080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9326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맑은 고딕"/>
              </a:rPr>
              <a:t>상대를 가리지 않는 포커 AI</a:t>
            </a:r>
          </a:p>
          <a:p>
            <a:pPr>
              <a:spcBef>
                <a:spcPts val="1400"/>
              </a:spcBef>
            </a:pPr>
            <a:r>
              <a:rPr sz="2400" b="0" i="0">
                <a:solidFill>
                  <a:srgbClr val="BDD3EE"/>
                </a:solidFill>
                <a:latin typeface="맑은 고딕"/>
              </a:rPr>
              <a:t>학습 상대 다양화를 통한 분포 강건 강화학습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D7E3F4"/>
                </a:solidFill>
                <a:latin typeface="맑은 고딕"/>
              </a:rPr>
              <a:t>헤즈업 No-Limit 텍사스 홀덤  ·  Monte-Carlo Q-Learning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A9C0E0"/>
                </a:solidFill>
                <a:latin typeface="맑은 고딕"/>
              </a:rPr>
              <a:t>강화학습 기말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포커는 왜 어려운 강화학습 문제인가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7665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불완전정보 게임 : 상대의 카드를 볼 수 없다 → 체스·바둑(완전정보)과 근본적으로 다름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내가 가진 정보만으로 최선의 베팅을 추론해야 함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확률적·고분산 보상 : 같은 선택도 카드 운에 따라 결과가 크게 흔들림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한 판 결과만으로는 그 선택이 좋았는지 알기 어려움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상대 의존성 : 최적 전략이 상대 성향에 따라 달라짐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공격적 상대 ↔ 소극적 상대 → 정답 액션이 정반대가 되기도 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2834640" cy="310896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65960"/>
            <a:ext cx="2468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3864"/>
                </a:solidFill>
                <a:latin typeface="맑은 고딕"/>
              </a:rPr>
              <a:t>실험 환경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1:1 헤즈업 홀덤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No-Limit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시작 스택 200칩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빅블라인드 2칩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  (= 100BB 깊이)</a:t>
            </a:r>
          </a:p>
          <a:p>
            <a:pPr>
              <a:spcBef>
                <a:spcPts val="700"/>
              </a:spcBef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1 핸드 = 1 에피소드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제안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학습 상대를 다양화해 '분포 강건성'을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문제의식 : 한 종류 상대로만 훈련하면 그 상대에게만 강하다 (분포 과적합)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제안 : 매 에피소드마다 상대 성향(persona)을 바꿔가며 훈련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여러 상황 분포를 두루 경험 → 누구에게나 통하는 정책</a:t>
            </a:r>
          </a:p>
        </p:txBody>
      </p:sp>
      <p:pic>
        <p:nvPicPr>
          <p:cNvPr id="9" name="Picture 8" descr="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339" y="3108960"/>
            <a:ext cx="6653881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①  ·  State 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포커 상황을 4차원 2,048 셀로 이산화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035040" cy="2704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182880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Round (4) : PREFLOP/FLOP/TURN/RIVER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Position (2) : BB / SB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핸드 강도 (8) : PREMIUM ~ TRASH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PrevAction (4) : 직전 상대 행동</a:t>
            </a:r>
          </a:p>
          <a:p>
            <a:pPr lvl="1">
              <a:spcAft>
                <a:spcPts val="900"/>
              </a:spcAft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 NONE / CHECK·CALL / SMALL / BIG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4800600"/>
            <a:ext cx="3840480" cy="86868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89204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</a:rPr>
              <a:t>★ PrevAction 축으로 '상대가 크게 베팅했는가'에 조건부 반응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②  ·  Action &amp;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행동 8종 · 핸드 종료 시 보상 + 비율 신용할당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행동 Action (8종) : FOLD / CHECK / CALL / RAISE 25·50·75·100% / ALL-IN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매 턴 합법적인 행동만 후보로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058400" cy="27432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9601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3864"/>
                </a:solidFill>
                <a:latin typeface="맑은 고딕"/>
              </a:rPr>
              <a:t>보상 Reward — 핸드가 끝날 때만 발생 (terminal)</a:t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2E6DB4"/>
                </a:solidFill>
                <a:latin typeface="맑은 고딕"/>
              </a:rPr>
              <a:t>r  =  payoff  =  (핸드 종료 후 칩)  −  (시작 칩)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222222"/>
                </a:solidFill>
                <a:latin typeface="맑은 고딕"/>
              </a:rPr>
              <a:t>신용 할당 : 최종 payoff를 각 행동이 투입한 칩 비율로 나눠 분배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E6DB4"/>
                </a:solidFill>
                <a:latin typeface="맑은 고딕"/>
              </a:rPr>
              <a:t>gᵢ  =  ( investᵢ / Σ investⱼ )  ×  payoff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→ 크게 베팅한 결정일수록 결과 책임을 더 많이 받음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→ CHECK도 1칩 투입으로 간주해 학습 정체(CHECK=0 고정점) 방지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③  ·  Q-update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몬테카를로(MC) 방식 — 에피소드 종료 후 일괄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q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92" y="1600200"/>
            <a:ext cx="6430296" cy="1828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0320" y="3611880"/>
            <a:ext cx="6035040" cy="77724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3675887"/>
            <a:ext cx="5852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맑은 고딕"/>
              </a:rPr>
              <a:t>Q(s,a) ← Q(s,a) + α [ g − Q(s,a) ]      (α = 0.1)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왜 TD가 아닌 MC인가?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 TD의 maximization bias(과대평가 편향) + 포커의 큰 분산 → 학습 붕괴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 MC는 실제 핸드 결과만 평균내므로 그 편향이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④  ·  탐색 (Exploration)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온도 기반 Softmax — 탐색에서 활용으로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32" y="1645920"/>
            <a:ext cx="8388416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709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P(a) = exp(Q(a)/τ) / Σ exp(Q(a')/τ)  —  Q값에 비례한 확률적 탐색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■  온도 τ : 초반 10.0(탐색) → 후반 0.5(활용), 전체 80% 구간 선형 감소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모델링 ⑤  ·  학습 데이터 (제안의 핵심)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알고리즘 고정, 매 에피소드 상대만 교체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400800" cy="2265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0" y="1783080"/>
            <a:ext cx="374903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controlled comparison : 다른 조건 전부 고정 → '상대 다양화' 효과만 분리 측정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두 가지 혼합 방식</a:t>
            </a:r>
          </a:p>
          <a:p>
            <a:pPr lvl="1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cycle : 5종을 순서대로 균등 순환 (재현성)</a:t>
            </a:r>
          </a:p>
          <a:p>
            <a:pPr lvl="1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mixed : 가중 확률 샘플링, 약한 고리(LAG·STA) 비중↑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포지션(BB/SB)도 매 에피소드 번갈아 학습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성능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미학습 상대·정석 상대 양쪽에서 동시 흑자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pic>
        <p:nvPicPr>
          <p:cNvPr id="8" name="Picture 7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583680" cy="30562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783080"/>
            <a:ext cx="3657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평가 = 학습과 분리 : 탐색 끈 greedy 정책으로 대결</a:t>
            </a:r>
          </a:p>
          <a:p>
            <a:pPr lvl="1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① 순수 Random  ② 학습에 안 쓴 고정 TAG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지표 mbb/g : 승률이 아닌 수익률</a:t>
            </a:r>
          </a:p>
          <a:p>
            <a:pPr lvl="1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승률 높아도 큰 팟 잃으면 적자일 수 있음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규모 : 10만 게임 × 5회 반복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1F3864"/>
                </a:solidFill>
                <a:latin typeface="맑은 고딕"/>
              </a:rPr>
              <a:t>■  합격선(사전등록) : 평균 − 1×표준편차 &gt; 0</a:t>
            </a:r>
          </a:p>
          <a:p>
            <a:pPr lvl="1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 두 상대 모두 충족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2000" cy="381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76200" cy="7772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E6DB4"/>
                </a:solidFill>
                <a:latin typeface="맑은 고딕"/>
              </a:rPr>
              <a:t>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1F3864"/>
                </a:solidFill>
                <a:latin typeface="맑은 고딕"/>
              </a:rPr>
              <a:t>기여와 독창성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맑은 고딕"/>
              </a:rPr>
              <a:t>Dongseo University Soft  · 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058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해석 가능한 에이전트 : 신경망 없이 2,048칸 Q-테이블만으로 학습</a:t>
            </a:r>
          </a:p>
          <a:p>
            <a:pPr lvl="1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어느 상황에서 무엇을 배웠는지 직접 들여다볼 수 있음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핵심 기여 : '상대 분포 다양화'가 과적합을 깨고 분포 강건성을 만든다</a:t>
            </a:r>
          </a:p>
          <a:p>
            <a:pPr lvl="1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controlled comparison으로 두 독립 방식에서 입증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맑은 고딕"/>
              </a:rPr>
              <a:t>■  포커 특성에 맞춘 설계 3종</a:t>
            </a:r>
          </a:p>
          <a:p>
            <a:pPr lvl="1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•  ① 비율 기반 신용할당  ② MC로 TD 편향 회피  ③ 수익률(mbb/g) 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11880"/>
            <a:ext cx="12192000" cy="5080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3268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326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BDD3EE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