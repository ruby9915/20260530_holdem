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53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2000" cy="5080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9326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맑은 고딕"/>
              </a:rPr>
              <a:t>상대를 가리지 않는 포커 AI</a:t>
            </a:r>
          </a:p>
          <a:p>
            <a:pPr>
              <a:spcBef>
                <a:spcPts val="1400"/>
              </a:spcBef>
            </a:pPr>
            <a:r>
              <a:rPr sz="2400" b="0" i="0">
                <a:solidFill>
                  <a:srgbClr val="BDD3EE"/>
                </a:solidFill>
                <a:latin typeface="맑은 고딕"/>
              </a:rPr>
              <a:t>학습 상대 다양화를 통한 분포 강건 강화학습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D7E3F4"/>
                </a:solidFill>
                <a:latin typeface="맑은 고딕"/>
              </a:rPr>
              <a:t>헤즈업 No-Limit 텍사스 홀덤  ·  Monte-Carlo Q-Learning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A9C0E0"/>
                </a:solidFill>
                <a:latin typeface="맑은 고딕"/>
              </a:rPr>
              <a:t>강화학습 기말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포커는 왜 어려운 강화학습 문제인가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67665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불완전정보 게임 : 상대의 카드를 볼 수 없다 → 체스·바둑(완전정보)과 근본적으로 다름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내가 가진 정보만으로 최선의 베팅을 추론해야 함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확률적·고분산 보상 : 같은 선택도 카드 운에 따라 결과가 크게 흔들림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한 판 결과만으로는 그 선택이 좋았는지 알기 어려움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상대 의존성 : 최적 전략이 상대 성향에 따라 달라짐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공격적 상대 ↔ 소극적 상대 → 정답 액션이 정반대가 되기도 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828800"/>
            <a:ext cx="2834640" cy="310896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965960"/>
            <a:ext cx="24688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F3864"/>
                </a:solidFill>
                <a:latin typeface="맑은 고딕"/>
              </a:rPr>
              <a:t>실험 환경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1:1 헤즈업 홀덤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No-Limit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시작 스택 200칩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빅블라인드 2칩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  (= 100BB 깊이)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1 핸드 = 1 에피소드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제안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학습 상대를 다양화해 '분포 강건성'을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058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문제의식 : 한 종류 상대로만 훈련하면 그 상대에게만 강하다 (분포 과적합)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제안 : 매 에피소드마다 상대 성향(persona)을 바꿔가며 훈련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여러 상황 분포를 두루 경험 → 누구에게나 통하는 정책</a:t>
            </a:r>
          </a:p>
        </p:txBody>
      </p:sp>
      <p:pic>
        <p:nvPicPr>
          <p:cNvPr id="9" name="Picture 8" descr="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339" y="3108960"/>
            <a:ext cx="6653881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모델링 ①  ·  State &amp;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상태 256개 × 행동 8개 = 2,048칸 Q-테이블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pic>
        <p:nvPicPr>
          <p:cNvPr id="8" name="Picture 7" descr="state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289" y="1554480"/>
            <a:ext cx="6883101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6177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맑은 고딕"/>
              </a:rPr>
              <a:t>■  상태(State) = 4개 축의 조합 : Round(4) × Position(2) × 핸드강도(8) × PrevAction(4) = 256</a:t>
            </a:r>
          </a:p>
          <a:p>
            <a:pPr lvl="1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 PrevAction(직전 상대 행동) 축으로 '상대가 크게 베팅했는가'에 조건부 반응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맑은 고딕"/>
              </a:rPr>
              <a:t>■  행동(Action) 8종 : FOLD / CHECK / CALL / RAISE 25·50·75·100% / ALL-IN</a:t>
            </a:r>
          </a:p>
          <a:p>
            <a:pPr lvl="1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 매 턴 합법적인 행동만 후보 → 256 상태마다 8행동의 가치 Q(s,a)를 표로 저장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모델링 ①  ·  State &amp;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상태 256개 × 행동 8개 = 2,048칸 Q-테이블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 dirty="0">
                <a:solidFill>
                  <a:srgbClr val="1F3864"/>
                </a:solidFill>
                <a:latin typeface="맑은 고딕"/>
              </a:rPr>
              <a:t>■ 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상태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(State) = 4개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축의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조합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 : Round(4) × Position(2) ×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핸드강도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(8) ×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PrevAction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(4) = 256</a:t>
            </a:r>
          </a:p>
          <a:p>
            <a:pPr lvl="1">
              <a:spcAft>
                <a:spcPts val="600"/>
              </a:spcAft>
            </a:pPr>
            <a:r>
              <a:rPr sz="1200" b="0" i="0" dirty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PrevAction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(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직전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상대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행동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)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축으로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'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상대가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크게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베팅했는가'에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조건부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반응</a:t>
            </a:r>
            <a:endParaRPr sz="1200" b="0" i="0" dirty="0">
              <a:solidFill>
                <a:srgbClr val="222222"/>
              </a:solidFill>
              <a:latin typeface="맑은 고딕"/>
            </a:endParaRPr>
          </a:p>
          <a:p>
            <a:pPr>
              <a:spcAft>
                <a:spcPts val="600"/>
              </a:spcAft>
            </a:pPr>
            <a:r>
              <a:rPr sz="1400" b="1" i="0" dirty="0">
                <a:solidFill>
                  <a:srgbClr val="1F3864"/>
                </a:solidFill>
                <a:latin typeface="맑은 고딕"/>
              </a:rPr>
              <a:t>■ 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행동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(Action) 8종 : FOLD / CHECK / CALL / RAISE 25·50·75·100% / ALL-IN</a:t>
            </a:r>
          </a:p>
          <a:p>
            <a:pPr lvl="1">
              <a:spcAft>
                <a:spcPts val="600"/>
              </a:spcAft>
            </a:pPr>
            <a:r>
              <a:rPr sz="1200" b="0" i="0" dirty="0">
                <a:solidFill>
                  <a:srgbClr val="222222"/>
                </a:solidFill>
                <a:latin typeface="맑은 고딕"/>
              </a:rPr>
              <a:t>•  매 턴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합법적인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행동만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후보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→ 256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상태마다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8행동의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가치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Q(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s,a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)를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표로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저장</a:t>
            </a:r>
            <a:endParaRPr sz="1200" b="0" i="0" dirty="0">
              <a:solidFill>
                <a:srgbClr val="222222"/>
              </a:solidFill>
              <a:latin typeface="맑은 고딕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407851"/>
              </p:ext>
            </p:extLst>
          </p:nvPr>
        </p:nvGraphicFramePr>
        <p:xfrm>
          <a:off x="2465354" y="2502782"/>
          <a:ext cx="1080277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80277">
                  <a:extLst>
                    <a:ext uri="{9D8B030D-6E8A-4147-A177-3AD203B41FA5}">
                      <a16:colId xmlns:a16="http://schemas.microsoft.com/office/drawing/2014/main" val="1581859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선공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610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 smtClean="0">
                          <a:solidFill>
                            <a:schemeClr val="tx1"/>
                          </a:solidFill>
                        </a:rPr>
                        <a:t>후공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692471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486785"/>
              </p:ext>
            </p:extLst>
          </p:nvPr>
        </p:nvGraphicFramePr>
        <p:xfrm>
          <a:off x="362855" y="2131049"/>
          <a:ext cx="1339461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39461">
                  <a:extLst>
                    <a:ext uri="{9D8B030D-6E8A-4147-A177-3AD203B41FA5}">
                      <a16:colId xmlns:a16="http://schemas.microsoft.com/office/drawing/2014/main" val="626358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프리플랍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71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플랍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03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턴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332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리버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829273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090928"/>
              </p:ext>
            </p:extLst>
          </p:nvPr>
        </p:nvGraphicFramePr>
        <p:xfrm>
          <a:off x="4240245" y="1511306"/>
          <a:ext cx="1563396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63396">
                  <a:extLst>
                    <a:ext uri="{9D8B030D-6E8A-4147-A177-3AD203B41FA5}">
                      <a16:colId xmlns:a16="http://schemas.microsoft.com/office/drawing/2014/main" val="3505460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 smtClean="0">
                          <a:effectLst/>
                        </a:rPr>
                        <a:t>&lt; 0.125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73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 smtClean="0">
                          <a:effectLst/>
                        </a:rPr>
                        <a:t>0.125 ~ 0.250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78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 smtClean="0">
                          <a:effectLst/>
                        </a:rPr>
                        <a:t>0.250 ~ 0.375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319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 smtClean="0">
                          <a:effectLst/>
                        </a:rPr>
                        <a:t>0.375 ~ 0.500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020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 smtClean="0">
                          <a:effectLst/>
                        </a:rPr>
                        <a:t>0.500 ~ 0.625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834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 smtClean="0">
                          <a:effectLst/>
                        </a:rPr>
                        <a:t>0.625 ~ 0.750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821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 smtClean="0">
                          <a:effectLst/>
                        </a:rPr>
                        <a:t>0.750 ~ 0.875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266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dirty="0" smtClean="0">
                          <a:effectLst/>
                        </a:rPr>
                        <a:t>≥ </a:t>
                      </a:r>
                      <a:r>
                        <a:rPr lang="en-US" altLang="ko-KR" dirty="0">
                          <a:effectLst/>
                        </a:rPr>
                        <a:t>0.875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042191079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771571"/>
              </p:ext>
            </p:extLst>
          </p:nvPr>
        </p:nvGraphicFramePr>
        <p:xfrm>
          <a:off x="6367625" y="2128307"/>
          <a:ext cx="1488751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88751">
                  <a:extLst>
                    <a:ext uri="{9D8B030D-6E8A-4147-A177-3AD203B41FA5}">
                      <a16:colId xmlns:a16="http://schemas.microsoft.com/office/drawing/2014/main" val="626358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71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CHECK_CALL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03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SMALL_RAISE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332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BIG_RAISE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829273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944018"/>
              </p:ext>
            </p:extLst>
          </p:nvPr>
        </p:nvGraphicFramePr>
        <p:xfrm>
          <a:off x="8420360" y="1511306"/>
          <a:ext cx="1563396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63396">
                  <a:extLst>
                    <a:ext uri="{9D8B030D-6E8A-4147-A177-3AD203B41FA5}">
                      <a16:colId xmlns:a16="http://schemas.microsoft.com/office/drawing/2014/main" val="3505460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폴드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73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kern="1200" dirty="0" smtClean="0">
                          <a:effectLst/>
                        </a:rPr>
                        <a:t>체크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78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kern="1200" dirty="0" smtClean="0">
                          <a:effectLst/>
                        </a:rPr>
                        <a:t>콜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319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레이즈</a:t>
                      </a:r>
                      <a:r>
                        <a:rPr lang="en-US" altLang="ko-KR" dirty="0" smtClean="0"/>
                        <a:t>25%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020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레이즈</a:t>
                      </a:r>
                      <a:r>
                        <a:rPr lang="en-US" altLang="ko-KR" dirty="0" smtClean="0"/>
                        <a:t>50%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834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kern="1200" dirty="0" err="1" smtClean="0">
                          <a:effectLst/>
                        </a:rPr>
                        <a:t>레이즈</a:t>
                      </a:r>
                      <a:r>
                        <a:rPr lang="en-US" altLang="ko-KR" sz="1800" kern="1200" dirty="0" smtClean="0">
                          <a:effectLst/>
                        </a:rPr>
                        <a:t>75%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821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kern="1200" dirty="0" err="1" smtClean="0">
                          <a:effectLst/>
                        </a:rPr>
                        <a:t>레이즈</a:t>
                      </a:r>
                      <a:r>
                        <a:rPr lang="en-US" altLang="ko-KR" sz="1800" kern="1200" dirty="0" smtClean="0">
                          <a:effectLst/>
                        </a:rPr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266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dirty="0" smtClean="0">
                          <a:effectLst/>
                        </a:rPr>
                        <a:t>올인</a:t>
                      </a:r>
                      <a:endParaRPr lang="en-US" altLang="ko-KR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042191079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915884" y="2681216"/>
            <a:ext cx="335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X</a:t>
            </a:r>
            <a:endParaRPr lang="ko-KR" alt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976638" y="2688063"/>
            <a:ext cx="335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X</a:t>
            </a:r>
            <a:endParaRPr lang="ko-KR" alt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928049" y="2684733"/>
            <a:ext cx="335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X</a:t>
            </a:r>
            <a:endParaRPr lang="ko-KR" alt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3790302" y="2681216"/>
            <a:ext cx="335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X</a:t>
            </a:r>
            <a:endParaRPr lang="ko-KR" alt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10226351" y="2602349"/>
            <a:ext cx="1548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= 2048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502503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모델링 ②  ·  Reward (보상 배분)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한 핸드의 순이익을 '투입한 칩 비율'로 나눠 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058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 dirty="0">
                <a:solidFill>
                  <a:srgbClr val="1F3864"/>
                </a:solidFill>
                <a:latin typeface="맑은 고딕"/>
              </a:rPr>
              <a:t>■ 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포커는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한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핸드가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끝나야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손익이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정해진다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→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보상은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핸드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종료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시 한 번, '딴 칩 −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잃은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칩'으로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발생</a:t>
            </a:r>
            <a:endParaRPr sz="1500" b="1" i="0" dirty="0">
              <a:solidFill>
                <a:srgbClr val="1F3864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i="0" dirty="0">
                <a:solidFill>
                  <a:srgbClr val="1F3864"/>
                </a:solidFill>
                <a:latin typeface="맑은 고딕"/>
              </a:rPr>
              <a:t>■ 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그런데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smtClean="0">
                <a:solidFill>
                  <a:srgbClr val="1F3864"/>
                </a:solidFill>
                <a:latin typeface="맑은 고딕"/>
              </a:rPr>
              <a:t>한 </a:t>
            </a:r>
            <a:r>
              <a:rPr sz="1500" b="1" i="0" dirty="0" err="1" smtClean="0">
                <a:solidFill>
                  <a:srgbClr val="1F3864"/>
                </a:solidFill>
                <a:latin typeface="맑은 고딕"/>
              </a:rPr>
              <a:t>핸드</a:t>
            </a:r>
            <a:r>
              <a:rPr sz="1500" b="1" i="0" dirty="0" smtClean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 smtClean="0">
                <a:solidFill>
                  <a:srgbClr val="1F3864"/>
                </a:solidFill>
                <a:latin typeface="맑은 고딕"/>
              </a:rPr>
              <a:t>동안</a:t>
            </a:r>
            <a:r>
              <a:rPr sz="1500" b="1" i="0" dirty="0" smtClean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 smtClean="0">
                <a:solidFill>
                  <a:srgbClr val="1F3864"/>
                </a:solidFill>
                <a:latin typeface="맑은 고딕"/>
              </a:rPr>
              <a:t>여러</a:t>
            </a:r>
            <a:r>
              <a:rPr sz="1500" b="1" i="0" dirty="0" smtClean="0">
                <a:solidFill>
                  <a:srgbClr val="1F3864"/>
                </a:solidFill>
                <a:latin typeface="맑은 고딕"/>
              </a:rPr>
              <a:t> 번 </a:t>
            </a:r>
            <a:r>
              <a:rPr sz="1500" b="1" i="0" dirty="0" err="1" smtClean="0">
                <a:solidFill>
                  <a:srgbClr val="1F3864"/>
                </a:solidFill>
                <a:latin typeface="맑은 고딕"/>
              </a:rPr>
              <a:t>결정을</a:t>
            </a:r>
            <a:r>
              <a:rPr sz="1500" b="1" i="0" dirty="0" smtClean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 smtClean="0">
                <a:solidFill>
                  <a:srgbClr val="1F3864"/>
                </a:solidFill>
                <a:latin typeface="맑은 고딕"/>
              </a:rPr>
              <a:t>내린다</a:t>
            </a:r>
            <a:r>
              <a:rPr sz="1500" b="1" i="0" dirty="0" smtClean="0">
                <a:solidFill>
                  <a:srgbClr val="1F3864"/>
                </a:solidFill>
                <a:latin typeface="맑은 고딕"/>
              </a:rPr>
              <a:t> → 이 </a:t>
            </a:r>
            <a:r>
              <a:rPr sz="1500" b="1" i="0" dirty="0" err="1" smtClean="0">
                <a:solidFill>
                  <a:srgbClr val="1F3864"/>
                </a:solidFill>
                <a:latin typeface="맑은 고딕"/>
              </a:rPr>
              <a:t>하나의</a:t>
            </a:r>
            <a:r>
              <a:rPr sz="1500" b="1" i="0" dirty="0" smtClean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 smtClean="0">
                <a:solidFill>
                  <a:srgbClr val="1F3864"/>
                </a:solidFill>
                <a:latin typeface="맑은 고딕"/>
              </a:rPr>
              <a:t>결과를</a:t>
            </a:r>
            <a:r>
              <a:rPr sz="1500" b="1" i="0" dirty="0" smtClean="0">
                <a:solidFill>
                  <a:srgbClr val="1F3864"/>
                </a:solidFill>
                <a:latin typeface="맑은 고딕"/>
              </a:rPr>
              <a:t> 각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결정에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어떻게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나눠줄까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?</a:t>
            </a:r>
          </a:p>
          <a:p>
            <a:pPr>
              <a:spcAft>
                <a:spcPts val="800"/>
              </a:spcAft>
            </a:pPr>
            <a:r>
              <a:rPr sz="1500" b="1" i="0" dirty="0">
                <a:solidFill>
                  <a:srgbClr val="1F3864"/>
                </a:solidFill>
                <a:latin typeface="맑은 고딕"/>
              </a:rPr>
              <a:t>■ 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해법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: 각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결정이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베팅에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넣은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칩의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비율만큼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 smtClean="0">
                <a:solidFill>
                  <a:srgbClr val="1F3864"/>
                </a:solidFill>
                <a:latin typeface="맑은 고딕"/>
              </a:rPr>
              <a:t>결과를</a:t>
            </a:r>
            <a:r>
              <a:rPr sz="1500" b="1" i="0" dirty="0" smtClean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나눠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갖는다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(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많이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건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결정이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 더 큰 </a:t>
            </a:r>
            <a:r>
              <a:rPr sz="1500" b="1" i="0" dirty="0" err="1">
                <a:solidFill>
                  <a:srgbClr val="1F3864"/>
                </a:solidFill>
                <a:latin typeface="맑은 고딕"/>
              </a:rPr>
              <a:t>책임</a:t>
            </a:r>
            <a:r>
              <a:rPr sz="1500" b="1" i="0" dirty="0">
                <a:solidFill>
                  <a:srgbClr val="1F3864"/>
                </a:solidFill>
                <a:latin typeface="맑은 고딕"/>
              </a:rPr>
              <a:t>)</a:t>
            </a:r>
          </a:p>
        </p:txBody>
      </p:sp>
      <p:pic>
        <p:nvPicPr>
          <p:cNvPr id="9" name="Picture 8" descr="reward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007" y="3246120"/>
            <a:ext cx="6083665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모델링 ③  ·  Q-update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몬테카를로(MC) 방식 — 에피소드 종료 후 일괄 갱신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pic>
        <p:nvPicPr>
          <p:cNvPr id="8" name="Picture 7" descr="q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692" y="1600200"/>
            <a:ext cx="6430296" cy="1828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560320" y="3611880"/>
            <a:ext cx="6035040" cy="777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0" y="3675887"/>
            <a:ext cx="5852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 dirty="0">
                <a:solidFill>
                  <a:srgbClr val="1F3864"/>
                </a:solidFill>
                <a:latin typeface="맑은 고딕"/>
              </a:rPr>
              <a:t>Q(</a:t>
            </a:r>
            <a:r>
              <a:rPr sz="1700" b="1" i="0" dirty="0" err="1">
                <a:solidFill>
                  <a:srgbClr val="1F3864"/>
                </a:solidFill>
                <a:latin typeface="맑은 고딕"/>
              </a:rPr>
              <a:t>s,a</a:t>
            </a:r>
            <a:r>
              <a:rPr sz="1700" b="1" i="0" dirty="0">
                <a:solidFill>
                  <a:srgbClr val="1F3864"/>
                </a:solidFill>
                <a:latin typeface="맑은 고딕"/>
              </a:rPr>
              <a:t>) ← Q(</a:t>
            </a:r>
            <a:r>
              <a:rPr sz="1700" b="1" i="0" dirty="0" err="1">
                <a:solidFill>
                  <a:srgbClr val="1F3864"/>
                </a:solidFill>
                <a:latin typeface="맑은 고딕"/>
              </a:rPr>
              <a:t>s,a</a:t>
            </a:r>
            <a:r>
              <a:rPr sz="1700" b="1" i="0" dirty="0">
                <a:solidFill>
                  <a:srgbClr val="1F3864"/>
                </a:solidFill>
                <a:latin typeface="맑은 고딕"/>
              </a:rPr>
              <a:t>) + α [ g − Q(</a:t>
            </a:r>
            <a:r>
              <a:rPr sz="1700" b="1" i="0" dirty="0" err="1">
                <a:solidFill>
                  <a:srgbClr val="1F3864"/>
                </a:solidFill>
                <a:latin typeface="맑은 고딕"/>
              </a:rPr>
              <a:t>s,a</a:t>
            </a:r>
            <a:r>
              <a:rPr sz="1700" b="1" i="0" dirty="0">
                <a:solidFill>
                  <a:srgbClr val="1F3864"/>
                </a:solidFill>
                <a:latin typeface="맑은 고딕"/>
              </a:rPr>
              <a:t>) ]      (α = 0.1)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■  왜 TD가 아닌 MC인가?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 TD의 maximization bias(과대평가 편향) + 포커의 큰 분산 → 학습 붕괴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 MC는 실제 핸드 결과만 평균내므로 그 편향이 없음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모델링 ④  ·  탐색 (Exploration)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온도 기반 Softmax — 탐색에서 활용으로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pic>
        <p:nvPicPr>
          <p:cNvPr id="8" name="Picture 7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32" y="1645920"/>
            <a:ext cx="8388416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7091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■  P(a) = exp(Q(a)/τ) / Σ exp(Q(a')/τ)  —  Q값에 비례한 확률적 탐색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■  온도 τ : 초반 10.0(탐색) → 후반 0.5(활용), 전체 80% 구간 선형 감소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모델링 ⑤  ·  학습 데이터 (제안의 핵심)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알고리즘 고정, 매 에피소드 상대만 교체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pic>
        <p:nvPicPr>
          <p:cNvPr id="8" name="Picture 7" descr="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6400800" cy="22655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0880" y="1783080"/>
            <a:ext cx="374903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맑은 고딕"/>
              </a:rPr>
              <a:t>■  controlled comparison : 다른 조건 전부 고정 → '상대 다양화' 효과만 분리 측정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맑은 고딕"/>
              </a:rPr>
              <a:t>■  두 가지 혼합 방식</a:t>
            </a:r>
          </a:p>
          <a:p>
            <a:pPr lvl="1"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 cycle : 5종을 순서대로 균등 순환 (재현성)</a:t>
            </a:r>
          </a:p>
          <a:p>
            <a:pPr lvl="1"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 mixed : 가중 확률 샘플링, 약한 고리(LAG·STA) 비중↑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맑은 고딕"/>
              </a:rPr>
              <a:t>■  포지션(BB/SB)도 매 에피소드 번갈아 학습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성능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미학습 상대·정석 상대 양쪽에서 동시 흑자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pic>
        <p:nvPicPr>
          <p:cNvPr id="8" name="Picture 7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6583680" cy="30562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783080"/>
            <a:ext cx="3657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 dirty="0">
                <a:solidFill>
                  <a:srgbClr val="1F3864"/>
                </a:solidFill>
                <a:latin typeface="맑은 고딕"/>
              </a:rPr>
              <a:t>■ 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평가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 =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학습과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분리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 :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탐색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 끈 greedy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정책으로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대결</a:t>
            </a:r>
            <a:endParaRPr sz="1400" b="1" i="0" dirty="0">
              <a:solidFill>
                <a:srgbClr val="1F3864"/>
              </a:solidFill>
              <a:latin typeface="맑은 고딕"/>
            </a:endParaRPr>
          </a:p>
          <a:p>
            <a:pPr lvl="1">
              <a:spcAft>
                <a:spcPts val="700"/>
              </a:spcAft>
            </a:pPr>
            <a:r>
              <a:rPr sz="1200" b="0" i="0" dirty="0">
                <a:solidFill>
                  <a:srgbClr val="222222"/>
                </a:solidFill>
                <a:latin typeface="맑은 고딕"/>
              </a:rPr>
              <a:t>•  ①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순수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Random  ②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학습에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안 쓴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고정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TAG</a:t>
            </a:r>
          </a:p>
          <a:p>
            <a:pPr>
              <a:spcAft>
                <a:spcPts val="700"/>
              </a:spcAft>
            </a:pPr>
            <a:r>
              <a:rPr sz="1400" b="1" i="0" dirty="0">
                <a:solidFill>
                  <a:srgbClr val="1F3864"/>
                </a:solidFill>
                <a:latin typeface="맑은 고딕"/>
              </a:rPr>
              <a:t>■ 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지표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mbb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/g :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승률이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아닌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수익률</a:t>
            </a:r>
            <a:endParaRPr sz="1400" b="1" i="0" dirty="0">
              <a:solidFill>
                <a:srgbClr val="1F3864"/>
              </a:solidFill>
              <a:latin typeface="맑은 고딕"/>
            </a:endParaRPr>
          </a:p>
          <a:p>
            <a:pPr lvl="1">
              <a:spcAft>
                <a:spcPts val="700"/>
              </a:spcAft>
            </a:pPr>
            <a:r>
              <a:rPr sz="1200" b="0" i="0" dirty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승률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높아도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큰 팟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잃으면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적자일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수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있음</a:t>
            </a:r>
            <a:endParaRPr sz="1200" b="0" i="0" dirty="0">
              <a:solidFill>
                <a:srgbClr val="222222"/>
              </a:solidFill>
              <a:latin typeface="맑은 고딕"/>
            </a:endParaRPr>
          </a:p>
          <a:p>
            <a:pPr>
              <a:spcAft>
                <a:spcPts val="700"/>
              </a:spcAft>
            </a:pPr>
            <a:r>
              <a:rPr sz="1400" b="1" i="0" dirty="0">
                <a:solidFill>
                  <a:srgbClr val="1F3864"/>
                </a:solidFill>
                <a:latin typeface="맑은 고딕"/>
              </a:rPr>
              <a:t>■ 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규모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 : 10만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게임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 × 5회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반복</a:t>
            </a:r>
            <a:endParaRPr sz="1400" b="1" i="0" dirty="0">
              <a:solidFill>
                <a:srgbClr val="1F3864"/>
              </a:solidFill>
              <a:latin typeface="맑은 고딕"/>
            </a:endParaRPr>
          </a:p>
          <a:p>
            <a:pPr>
              <a:spcAft>
                <a:spcPts val="700"/>
              </a:spcAft>
            </a:pPr>
            <a:r>
              <a:rPr sz="1400" b="1" i="0" dirty="0">
                <a:solidFill>
                  <a:srgbClr val="1F3864"/>
                </a:solidFill>
                <a:latin typeface="맑은 고딕"/>
              </a:rPr>
              <a:t>■ 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합격선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(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사전등록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) : </a:t>
            </a:r>
            <a:r>
              <a:rPr sz="1400" b="1" i="0" dirty="0" err="1">
                <a:solidFill>
                  <a:srgbClr val="1F3864"/>
                </a:solidFill>
                <a:latin typeface="맑은 고딕"/>
              </a:rPr>
              <a:t>평균</a:t>
            </a:r>
            <a:r>
              <a:rPr sz="1400" b="1" i="0" dirty="0">
                <a:solidFill>
                  <a:srgbClr val="1F3864"/>
                </a:solidFill>
                <a:latin typeface="맑은 고딕"/>
              </a:rPr>
              <a:t> − 1×표준편차 &gt; 0</a:t>
            </a:r>
          </a:p>
          <a:p>
            <a:pPr lvl="1">
              <a:spcAft>
                <a:spcPts val="700"/>
              </a:spcAft>
            </a:pPr>
            <a:r>
              <a:rPr sz="1200" b="0" i="0" dirty="0">
                <a:solidFill>
                  <a:srgbClr val="222222"/>
                </a:solidFill>
                <a:latin typeface="맑은 고딕"/>
              </a:rPr>
              <a:t>•  두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상대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모두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맑은 고딕"/>
              </a:rPr>
              <a:t>충족</a:t>
            </a:r>
            <a:r>
              <a:rPr sz="1200" b="0" i="0" dirty="0">
                <a:solidFill>
                  <a:srgbClr val="222222"/>
                </a:solidFill>
                <a:latin typeface="맑은 고딕"/>
              </a:rPr>
              <a:t> 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기여와 독창성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058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해석 가능한 에이전트 : 신경망 없이 2,048칸 Q-테이블만으로 학습</a:t>
            </a:r>
          </a:p>
          <a:p>
            <a:pPr lvl="1"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어느 상황에서 무엇을 배웠는지 직접 들여다볼 수 있음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핵심 기여 : '상대 분포 다양화'가 과적합을 깨고 분포 강건성을 만든다</a:t>
            </a:r>
          </a:p>
          <a:p>
            <a:pPr lvl="1"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controlled comparison으로 두 독립 방식에서 입증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포커 특성에 맞춘 설계 3종</a:t>
            </a:r>
          </a:p>
          <a:p>
            <a:pPr lvl="1"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① 비율 기반 신용할당  ② MC로 TD 편향 회피  ③ 수익률(mbb/g) 평가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11880"/>
            <a:ext cx="12192000" cy="5080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93268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326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0">
                <a:solidFill>
                  <a:srgbClr val="BDD3EE"/>
                </a:solidFill>
                <a:latin typeface="맑은 고딕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907</Words>
  <Application>Microsoft Office PowerPoint</Application>
  <PresentationFormat>와이드스크린</PresentationFormat>
  <Paragraphs>118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301</cp:lastModifiedBy>
  <cp:revision>5</cp:revision>
  <dcterms:created xsi:type="dcterms:W3CDTF">2013-01-27T09:14:16Z</dcterms:created>
  <dcterms:modified xsi:type="dcterms:W3CDTF">2026-06-10T12:12:00Z</dcterms:modified>
  <cp:category/>
</cp:coreProperties>
</file>