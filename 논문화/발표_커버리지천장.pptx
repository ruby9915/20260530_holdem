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374" d="100"/>
          <a:sy n="374" d="100"/>
        </p:scale>
        <p:origin x="1218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607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한 줄: 시험한 레버(예산·탐색·커버리지) 중에서는 상대가 만드는 전이 분포만이 성능 천장을 움직였다. tabular·on-policy MC 한정 조건부 명제임을 처음부터 명확히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과장하지 않는다는 점을 먼저 못박는다. 조건부 명제, 경계 조건 명료화 + 실증적·해석적 신규성이 우리의 기여다.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질문이 연구 전체의 출발점. 다음 슬라이드에서 둘을 분리하기 위한 실험 설계를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방법론적 강점: 256셀 exact 측정으로 도달 실패의 원인을 수리적으로 분리한다.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cardinality를 정확히: 256 컨텍스트 안에 핸드버킷 8이 인수로 들어가 있고, 행동 8을 곱해 총 2,048 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대비: 코드에 update_q(Q-learning)도 있으나 미사용. 실제 사용은 update_mc. 정확한 명칭은 'tabular on-policy Monte Carlo control with softmax exploration'.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처방 모두 천장을 못 움직였다. 병목은 탐색 강도가 아니라 상대가 만드는 전이 분포.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세 숫자가 처방 3종 기각의 핵심 증거. 수치는 절대 바꾸지 말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처방으로 안 움직이던 천장이 ‘상대 분포’ 레버로 움직였다는 결정적 대조. 표의 모든 수치 고정.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honesty의 핵심. 결론에서도 이 hedge를 절대 깨지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결론도 '조건부 기각'으로 못박는다. 다중 에이전트는 향후 일반화 함의로만 언급.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발표 시간 부족하면 생략, 질문 들어오면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1852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dirty="0" smtClean="0">
                <a:solidFill>
                  <a:srgbClr val="FFFFFF"/>
                </a:solidFill>
                <a:latin typeface="Malgun Gothic"/>
              </a:rPr>
              <a:t>Tabular 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On-policy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몬테카를로에서의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
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커버리지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천장</a:t>
            </a:r>
            <a:r>
              <a:rPr sz="34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400" b="1" dirty="0" err="1">
                <a:solidFill>
                  <a:srgbClr val="FFFFFF"/>
                </a:solidFill>
                <a:latin typeface="Malgun Gothic"/>
              </a:rPr>
              <a:t>실증</a:t>
            </a:r>
            <a:endParaRPr sz="3400" b="1" dirty="0">
              <a:solidFill>
                <a:srgbClr val="FFFFFF"/>
              </a:solidFill>
              <a:latin typeface="Malgun Gothic"/>
            </a:endParaRPr>
          </a:p>
          <a:p>
            <a:pPr>
              <a:spcBef>
                <a:spcPts val="1800"/>
              </a:spcBef>
            </a:pPr>
            <a:r>
              <a:rPr sz="1800" b="0" dirty="0" err="1">
                <a:solidFill>
                  <a:srgbClr val="CFDDEC"/>
                </a:solidFill>
                <a:latin typeface="Malgun Gothic"/>
              </a:rPr>
              <a:t>탐색을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강화해도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천장은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움직이지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않는다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— </a:t>
            </a:r>
            <a:r>
              <a:rPr sz="1800" b="0" dirty="0" err="1" smtClean="0">
                <a:solidFill>
                  <a:srgbClr val="CFDDEC"/>
                </a:solidFill>
                <a:latin typeface="Malgun Gothic"/>
              </a:rPr>
              <a:t>환경이</a:t>
            </a:r>
            <a:r>
              <a:rPr sz="1800" b="0" dirty="0" smtClean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천장을</a:t>
            </a:r>
            <a:r>
              <a:rPr sz="18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CFDDEC"/>
                </a:solidFill>
                <a:latin typeface="Malgun Gothic"/>
              </a:rPr>
              <a:t>결정한다</a:t>
            </a:r>
            <a:endParaRPr sz="1800" b="0" dirty="0">
              <a:solidFill>
                <a:srgbClr val="CFDDEC"/>
              </a:solidFill>
              <a:latin typeface="Malgun Gothic"/>
            </a:endParaRPr>
          </a:p>
          <a:p>
            <a:pPr>
              <a:spcBef>
                <a:spcPts val="2400"/>
              </a:spcBef>
            </a:pPr>
            <a:r>
              <a:rPr sz="1500" b="0" dirty="0" err="1">
                <a:solidFill>
                  <a:srgbClr val="9FB6CE"/>
                </a:solidFill>
                <a:latin typeface="Malgun Gothic"/>
              </a:rPr>
              <a:t>강화학습</a:t>
            </a:r>
            <a:r>
              <a:rPr sz="1500" b="0" dirty="0">
                <a:solidFill>
                  <a:srgbClr val="9FB6CE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9FB6CE"/>
                </a:solidFill>
                <a:latin typeface="Malgun Gothic"/>
              </a:rPr>
              <a:t>기말</a:t>
            </a:r>
            <a:r>
              <a:rPr sz="1500" b="0" dirty="0">
                <a:solidFill>
                  <a:srgbClr val="9FB6CE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9FB6CE"/>
                </a:solidFill>
                <a:latin typeface="Malgun Gothic"/>
              </a:rPr>
              <a:t>발표</a:t>
            </a:r>
            <a:r>
              <a:rPr sz="1500" b="0" dirty="0">
                <a:solidFill>
                  <a:srgbClr val="9FB6CE"/>
                </a:solidFill>
                <a:latin typeface="Malgun Gothic"/>
              </a:rPr>
              <a:t>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 dirty="0" err="1">
                <a:solidFill>
                  <a:srgbClr val="FFFFFF"/>
                </a:solidFill>
                <a:latin typeface="Malgun Gothic"/>
              </a:rPr>
              <a:t>핵심</a:t>
            </a:r>
            <a:r>
              <a:rPr sz="2600" b="1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Malgun Gothic"/>
              </a:rPr>
              <a:t>주장</a:t>
            </a:r>
            <a:r>
              <a:rPr sz="2600" b="1" dirty="0">
                <a:solidFill>
                  <a:srgbClr val="FFFFFF"/>
                </a:solidFill>
                <a:latin typeface="Malgun Gothic"/>
              </a:rPr>
              <a:t> 한 줄</a:t>
            </a:r>
          </a:p>
          <a:p>
            <a:r>
              <a:rPr sz="1400" b="0" dirty="0">
                <a:solidFill>
                  <a:srgbClr val="CFDDEC"/>
                </a:solidFill>
                <a:latin typeface="Malgun Gothic"/>
              </a:rPr>
              <a:t>이 </a:t>
            </a:r>
            <a:r>
              <a:rPr sz="1400" b="0" dirty="0" err="1">
                <a:solidFill>
                  <a:srgbClr val="CFDDEC"/>
                </a:solidFill>
                <a:latin typeface="Malgun Gothic"/>
              </a:rPr>
              <a:t>발표의</a:t>
            </a:r>
            <a:r>
              <a:rPr sz="14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CFDDEC"/>
                </a:solidFill>
                <a:latin typeface="Malgun Gothic"/>
              </a:rPr>
              <a:t>모든</a:t>
            </a:r>
            <a:r>
              <a:rPr sz="14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CFDDEC"/>
                </a:solidFill>
                <a:latin typeface="Malgun Gothic"/>
              </a:rPr>
              <a:t>슬라이드는</a:t>
            </a:r>
            <a:r>
              <a:rPr sz="1400" b="0" dirty="0">
                <a:solidFill>
                  <a:srgbClr val="CFDDEC"/>
                </a:solidFill>
                <a:latin typeface="Malgun Gothic"/>
              </a:rPr>
              <a:t> 이 </a:t>
            </a:r>
            <a:r>
              <a:rPr sz="1400" b="0" dirty="0" err="1">
                <a:solidFill>
                  <a:srgbClr val="CFDDEC"/>
                </a:solidFill>
                <a:latin typeface="Malgun Gothic"/>
              </a:rPr>
              <a:t>문장으로</a:t>
            </a:r>
            <a:r>
              <a:rPr sz="1400" b="0" dirty="0">
                <a:solidFill>
                  <a:srgbClr val="CFDDEC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CFDDEC"/>
                </a:solidFill>
                <a:latin typeface="Malgun Gothic"/>
              </a:rPr>
              <a:t>수렴한다</a:t>
            </a:r>
            <a:endParaRPr sz="1400" b="0" dirty="0">
              <a:solidFill>
                <a:srgbClr val="CFDDEC"/>
              </a:solidFill>
              <a:latin typeface="Malgun Gothi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0515600" cy="1737360"/>
          </a:xfrm>
          <a:prstGeom prst="rect">
            <a:avLst/>
          </a:prstGeom>
          <a:solidFill>
            <a:srgbClr val="EEF3F8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rIns="365760" rtlCol="0" anchor="ctr"/>
          <a:lstStyle/>
          <a:p>
            <a:pPr algn="ctr"/>
            <a:r>
              <a:rPr sz="2200" b="1" dirty="0">
                <a:solidFill>
                  <a:srgbClr val="1F3A5F"/>
                </a:solidFill>
                <a:latin typeface="Malgun Gothic"/>
              </a:rPr>
              <a:t>“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탐색을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키워도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커버리지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천장은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불변하고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,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고정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상대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(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환경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)가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천장을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2200" b="1" dirty="0" err="1">
                <a:solidFill>
                  <a:srgbClr val="1F3A5F"/>
                </a:solidFill>
                <a:latin typeface="Malgun Gothic"/>
              </a:rPr>
              <a:t>결정한다</a:t>
            </a:r>
            <a:r>
              <a:rPr sz="2200" b="1" dirty="0">
                <a:solidFill>
                  <a:srgbClr val="1F3A5F"/>
                </a:solidFill>
                <a:latin typeface="Malgun Gothic"/>
              </a:rPr>
              <a:t>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dirty="0">
                <a:solidFill>
                  <a:srgbClr val="2E75B6"/>
                </a:solidFill>
                <a:latin typeface="Malgun Gothic"/>
              </a:rPr>
              <a:t>•  단, tabular · on-policy Monte Carlo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환경에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한정된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조건부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명제</a:t>
            </a:r>
            <a:endParaRPr sz="1800" b="1" dirty="0">
              <a:solidFill>
                <a:srgbClr val="2E75B6"/>
              </a:solidFill>
              <a:latin typeface="Malgun Gothic"/>
            </a:endParaRPr>
          </a:p>
          <a:p>
            <a:pPr>
              <a:spcAft>
                <a:spcPts val="1000"/>
              </a:spcAft>
            </a:pPr>
            <a:r>
              <a:rPr sz="1800" b="0" dirty="0">
                <a:solidFill>
                  <a:srgbClr val="444444"/>
                </a:solidFill>
                <a:latin typeface="Malgun Gothic"/>
              </a:rPr>
              <a:t>•  ‘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유일하게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결정한다’는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강한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명제는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본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연구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범위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밖 →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정직한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한계로</a:t>
            </a:r>
            <a:r>
              <a:rPr sz="18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0" dirty="0" err="1">
                <a:solidFill>
                  <a:srgbClr val="444444"/>
                </a:solidFill>
                <a:latin typeface="Malgun Gothic"/>
              </a:rPr>
              <a:t>명시</a:t>
            </a:r>
            <a:endParaRPr sz="1800" b="0" dirty="0">
              <a:solidFill>
                <a:srgbClr val="444444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1. 문제 제기 — 탐색 실패는 정말 ‘에이전트 탓’인가?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dirty="0">
                <a:solidFill>
                  <a:srgbClr val="444444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통념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: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탐색이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실패하면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원인을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학습자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측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결함으로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귀속</a:t>
            </a:r>
            <a:endParaRPr sz="1800" b="1" dirty="0">
              <a:solidFill>
                <a:srgbClr val="444444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탐색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알고리즘의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한계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/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데이터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커버리지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부족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/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신경망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함수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근사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오차</a:t>
            </a:r>
            <a:endParaRPr sz="1600" b="0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1200"/>
              </a:spcAft>
            </a:pPr>
            <a:r>
              <a:rPr sz="1800" b="1" dirty="0">
                <a:solidFill>
                  <a:srgbClr val="444444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그러나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불완전정보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게임에서는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다른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일이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벌어질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수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있다</a:t>
            </a:r>
            <a:endParaRPr sz="1800" b="1" dirty="0">
              <a:solidFill>
                <a:srgbClr val="444444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상대의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은닉된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의사결정이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전이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P(s'|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s,a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)를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직접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좌우</a:t>
            </a:r>
            <a:endParaRPr sz="1600" b="0" dirty="0">
              <a:solidFill>
                <a:srgbClr val="444444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환경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(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)이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특정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상태로의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전이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경로를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원천적으로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닫으면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,</a:t>
            </a: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학습자가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탐색을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아무리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키워도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그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도달이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물리적으로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불가능</a:t>
            </a:r>
            <a:endParaRPr sz="1600" b="0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1200"/>
              </a:spcAft>
            </a:pPr>
            <a:r>
              <a:rPr sz="1800" b="1" dirty="0">
                <a:solidFill>
                  <a:srgbClr val="2E75B6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질문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: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도달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실패가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알고리즘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탓’인가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, ‘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환경의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구조적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5B6"/>
                </a:solidFill>
                <a:latin typeface="Malgun Gothic"/>
              </a:rPr>
              <a:t>차단’인가</a:t>
            </a:r>
            <a:r>
              <a:rPr sz="1800" b="1" dirty="0">
                <a:solidFill>
                  <a:srgbClr val="2E75B6"/>
                </a:solidFill>
                <a:latin typeface="Malgun Gothic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2. 설계 아이디어 — 근사 오차를 제거한 통제 환경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800" b="1" dirty="0">
                <a:solidFill>
                  <a:srgbClr val="444444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심층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신경망은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일반화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실패’와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‘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환경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차단’을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분리할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수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없음</a:t>
            </a:r>
            <a:endParaRPr sz="1800" b="1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1200"/>
              </a:spcAft>
            </a:pPr>
            <a:r>
              <a:rPr sz="1800" b="1" dirty="0">
                <a:solidFill>
                  <a:srgbClr val="2E7D32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해결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: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HUNL을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순수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 표-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기반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(tabular)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환경으로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극단</a:t>
            </a:r>
            <a:r>
              <a:rPr sz="1800" b="1" dirty="0">
                <a:solidFill>
                  <a:srgbClr val="2E7D32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2E7D32"/>
                </a:solidFill>
                <a:latin typeface="Malgun Gothic"/>
              </a:rPr>
              <a:t>추상화</a:t>
            </a:r>
            <a:endParaRPr sz="1800" b="1" dirty="0">
              <a:solidFill>
                <a:srgbClr val="2E7D32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근사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오차가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개입할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수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없는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통제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조건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확보</a:t>
            </a:r>
            <a:endParaRPr sz="1600" b="0" dirty="0">
              <a:solidFill>
                <a:srgbClr val="444444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도달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분포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d^π(s)를 셀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단위로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전수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(exact)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측정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가능</a:t>
            </a:r>
            <a:endParaRPr sz="1600" b="0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1200"/>
              </a:spcAft>
            </a:pPr>
            <a:r>
              <a:rPr sz="1800" b="1" dirty="0">
                <a:solidFill>
                  <a:srgbClr val="444444"/>
                </a:solidFill>
                <a:latin typeface="Malgun Gothic"/>
              </a:rPr>
              <a:t>• 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이로써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커버리지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한계의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원인을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깨끗하게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분리</a:t>
            </a:r>
            <a:r>
              <a:rPr sz="18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444444"/>
                </a:solidFill>
                <a:latin typeface="Malgun Gothic"/>
              </a:rPr>
              <a:t>관측</a:t>
            </a:r>
            <a:endParaRPr sz="1800" b="1" dirty="0">
              <a:solidFill>
                <a:srgbClr val="444444"/>
              </a:solidFill>
              <a:latin typeface="Malgun Gothic"/>
            </a:endParaRPr>
          </a:p>
          <a:p>
            <a:pPr lvl="1">
              <a:spcAft>
                <a:spcPts val="1200"/>
              </a:spcAft>
            </a:pPr>
            <a:r>
              <a:rPr sz="1600" b="0" dirty="0">
                <a:solidFill>
                  <a:srgbClr val="444444"/>
                </a:solidFill>
                <a:latin typeface="Malgun Gothic"/>
              </a:rPr>
              <a:t>–  =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고정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상대가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만드는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외생적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전이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분포에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병목이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444444"/>
                </a:solidFill>
                <a:latin typeface="Malgun Gothic"/>
              </a:rPr>
              <a:t>있는가</a:t>
            </a:r>
            <a:r>
              <a:rPr sz="1600" b="0" dirty="0">
                <a:solidFill>
                  <a:srgbClr val="444444"/>
                </a:solidFill>
                <a:latin typeface="Malgun Gothic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3. 상태 추상화 — 256 컨텍스트 × 8 행동 = 2,048 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라운드 (4)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Preflop/Flop/Turn/River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핸드버킷 (8)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PREMIUM…TRASH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위치 (2)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BB / SB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63040"/>
            <a:ext cx="2468880" cy="1097280"/>
          </a:xfrm>
          <a:prstGeom prst="rect">
            <a:avLst/>
          </a:prstGeom>
          <a:solidFill>
            <a:srgbClr val="EEF3F8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직전행동 (4)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NONE/CC/SR/BR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E75B6"/>
                </a:solidFill>
                <a:latin typeface="Malgun Gothic"/>
              </a:rPr>
              <a:t>4 × 8 × 2 × 4 = 256 컨텍스트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474720"/>
            <a:ext cx="2468880" cy="1005840"/>
          </a:xfrm>
          <a:prstGeom prst="rect">
            <a:avLst/>
          </a:prstGeom>
          <a:solidFill>
            <a:srgbClr val="E7F1E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A5F"/>
                </a:solidFill>
                <a:latin typeface="Malgun Gothic"/>
              </a:rPr>
              <a:t>행동 (8)</a:t>
            </a:r>
          </a:p>
          <a:p>
            <a:pPr algn="ctr"/>
            <a:r>
              <a:rPr sz="1100" b="0">
                <a:solidFill>
                  <a:srgbClr val="444444"/>
                </a:solidFill>
                <a:latin typeface="Malgun Gothic"/>
              </a:rPr>
              <a:t>FOLD/CHECK/CALL/R25/50/75/100/ALLIN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474720"/>
            <a:ext cx="5486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Malgun Gothic"/>
              </a:rPr>
              <a:t>256 × 8 = 2,048 셀  → d^π(s) 전수 측정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•  도메인: HUNL, 시작스택 200, SB=1/BB=2, pokerkit 엔진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•  핸드버킷은 256 컨텍스트 안에 이미 포함 (별도 추가 아님)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3. 학습 알고리즘 — On-policy Monte Carlo (Q-learning 아님)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Q-table 자료구조를 on-policy Monte Carlo로 갱신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갱신식:  Q(s,a) ← Q(s,a) + α · ( G − Q(s,a) )   (부트스트랩 없음)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에피소드 실제 리턴 G로 갱신 → off-policy Q-learning 부트스트랩 미사용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탐색: Softmax (온도 10.0 → 0.5, 학습 전반 80% 구간 선형 감쇠)</a:t>
            </a:r>
          </a:p>
          <a:p>
            <a:pPr lvl="1">
              <a:spcAft>
                <a:spcPts val="1100"/>
              </a:spcAft>
            </a:pPr>
            <a:r>
              <a:rPr sz="1600" b="0">
                <a:solidFill>
                  <a:srgbClr val="444444"/>
                </a:solidFill>
                <a:latin typeface="Malgun Gothic"/>
              </a:rPr>
              <a:t>–  PrevAction 특징 포함, CHECK=1chip 처리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하이퍼파라미터: α=0.1, γ=0.9, seed=42</a:t>
            </a:r>
          </a:p>
          <a:p>
            <a:pPr>
              <a:spcAft>
                <a:spcPts val="11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평가: 어댑터 끈 raw-greedy, 100k 핸드 × 다중 시드, 학습/평가 분리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통념적 처방 3종을 차례로 적용 → 모두 기각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700" b="1" dirty="0">
                <a:solidFill>
                  <a:srgbClr val="444444"/>
                </a:solidFill>
                <a:latin typeface="Malgun Gothic"/>
              </a:rPr>
              <a:t>•  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미방문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셀이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 ‘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과적합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/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학습부족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’ 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때문이라는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의심을</a:t>
            </a:r>
            <a:r>
              <a:rPr sz="1700" b="1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444444"/>
                </a:solidFill>
                <a:latin typeface="Malgun Gothic"/>
              </a:rPr>
              <a:t>검증</a:t>
            </a:r>
            <a:endParaRPr sz="1700" b="1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C0392B"/>
                </a:solidFill>
                <a:latin typeface="Malgun Gothic"/>
              </a:rPr>
              <a:t>•  [6-A]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예산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부족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가설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→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기각</a:t>
            </a:r>
            <a:endParaRPr sz="1700" b="1" dirty="0">
              <a:solidFill>
                <a:srgbClr val="C0392B"/>
              </a:solidFill>
              <a:latin typeface="Malgun Gothic"/>
            </a:endParaRPr>
          </a:p>
          <a:p>
            <a:pPr lvl="1">
              <a:spcAft>
                <a:spcPts val="900"/>
              </a:spcAft>
            </a:pPr>
            <a:r>
              <a:rPr sz="15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도달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확률이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정확히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0인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셀이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전체의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45.5% (T-UNREACH,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버그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아님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)</a:t>
            </a:r>
          </a:p>
          <a:p>
            <a:pPr lvl="1">
              <a:spcAft>
                <a:spcPts val="900"/>
              </a:spcAft>
            </a:pPr>
            <a:r>
              <a:rPr sz="15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예산을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무한히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늘려도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리턴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표본이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없어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갱신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0회 → 안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채워짐</a:t>
            </a:r>
            <a:endParaRPr sz="1500" b="0" dirty="0">
              <a:solidFill>
                <a:srgbClr val="444444"/>
              </a:solidFill>
              <a:latin typeface="Malgun Gothic"/>
            </a:endParaRP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C0392B"/>
                </a:solidFill>
                <a:latin typeface="Malgun Gothic"/>
              </a:rPr>
              <a:t>•  [6-B]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탐색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(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온도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)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강화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가설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→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기각</a:t>
            </a:r>
            <a:endParaRPr sz="1700" b="1" dirty="0">
              <a:solidFill>
                <a:srgbClr val="C0392B"/>
              </a:solidFill>
              <a:latin typeface="Malgun Gothic"/>
            </a:endParaRPr>
          </a:p>
          <a:p>
            <a:pPr lvl="1">
              <a:spcAft>
                <a:spcPts val="900"/>
              </a:spcAft>
            </a:pPr>
            <a:r>
              <a:rPr sz="15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온도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4방향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스윕에도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미학습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컨텍스트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67 → 68/71/72 (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거의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불변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)</a:t>
            </a:r>
          </a:p>
          <a:p>
            <a:pPr>
              <a:spcAft>
                <a:spcPts val="900"/>
              </a:spcAft>
            </a:pPr>
            <a:r>
              <a:rPr sz="1700" b="1" dirty="0">
                <a:solidFill>
                  <a:srgbClr val="C0392B"/>
                </a:solidFill>
                <a:latin typeface="Malgun Gothic"/>
              </a:rPr>
              <a:t>•  [6-C] ‘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넓은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커버리지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=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흑자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’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가설</a:t>
            </a:r>
            <a:r>
              <a:rPr sz="1700" b="1" dirty="0">
                <a:solidFill>
                  <a:srgbClr val="C0392B"/>
                </a:solidFill>
                <a:latin typeface="Malgun Gothic"/>
              </a:rPr>
              <a:t> → </a:t>
            </a:r>
            <a:r>
              <a:rPr sz="1700" b="1" dirty="0" err="1">
                <a:solidFill>
                  <a:srgbClr val="C0392B"/>
                </a:solidFill>
                <a:latin typeface="Malgun Gothic"/>
              </a:rPr>
              <a:t>기각</a:t>
            </a:r>
            <a:endParaRPr sz="1700" b="1" dirty="0">
              <a:solidFill>
                <a:srgbClr val="C0392B"/>
              </a:solidFill>
              <a:latin typeface="Malgun Gothic"/>
            </a:endParaRPr>
          </a:p>
          <a:p>
            <a:pPr lvl="1">
              <a:spcAft>
                <a:spcPts val="900"/>
              </a:spcAft>
            </a:pPr>
            <a:r>
              <a:rPr sz="1500" b="0" dirty="0">
                <a:solidFill>
                  <a:srgbClr val="444444"/>
                </a:solidFill>
                <a:latin typeface="Malgun Gothic"/>
              </a:rPr>
              <a:t>– 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흑자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run이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baseline보다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미학습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셀이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오히려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더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많은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경우</a:t>
            </a:r>
            <a:r>
              <a:rPr sz="15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500" b="0" dirty="0" err="1">
                <a:solidFill>
                  <a:srgbClr val="444444"/>
                </a:solidFill>
                <a:latin typeface="Malgun Gothic"/>
              </a:rPr>
              <a:t>관측</a:t>
            </a:r>
            <a:endParaRPr sz="1500" b="0" dirty="0">
              <a:solidFill>
                <a:srgbClr val="444444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핵심 수치 — 탐색을 흔들어도 천장은 불변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C0392B"/>
                </a:solidFill>
                <a:latin typeface="Malgun Gothic"/>
              </a:rPr>
              <a:t>45.5%</a:t>
            </a:r>
          </a:p>
          <a:p>
            <a:pPr algn="ctr"/>
            <a:r>
              <a:rPr sz="1400" b="0" dirty="0" err="1">
                <a:solidFill>
                  <a:srgbClr val="444444"/>
                </a:solidFill>
                <a:latin typeface="Malgun Gothic"/>
              </a:rPr>
              <a:t>도달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확률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0인 셀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비율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
(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예산으로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못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채움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2E75B6"/>
                </a:solidFill>
                <a:latin typeface="Malgun Gothic"/>
              </a:rPr>
              <a:t>67 → 72</a:t>
            </a:r>
          </a:p>
          <a:p>
            <a:pPr algn="ctr"/>
            <a:r>
              <a:rPr sz="1400" b="0" dirty="0" err="1">
                <a:solidFill>
                  <a:srgbClr val="444444"/>
                </a:solidFill>
                <a:latin typeface="Malgun Gothic"/>
              </a:rPr>
              <a:t>온도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4방향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스윕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후
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미학습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컨텍스트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(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거의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불변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1828800"/>
            <a:ext cx="3383280" cy="2194560"/>
          </a:xfrm>
          <a:prstGeom prst="rect">
            <a:avLst/>
          </a:prstGeom>
          <a:solidFill>
            <a:srgbClr val="EEF3F8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2E7D32"/>
                </a:solidFill>
                <a:latin typeface="Malgun Gothic"/>
              </a:rPr>
              <a:t>흑자 ≠ 넓이</a:t>
            </a:r>
          </a:p>
          <a:p>
            <a:pPr algn="ctr"/>
            <a:r>
              <a:rPr sz="1400" b="0">
                <a:solidFill>
                  <a:srgbClr val="444444"/>
                </a:solidFill>
                <a:latin typeface="Malgun Gothic"/>
              </a:rPr>
              <a:t>흑자 원천은 커버리지 넓이
아니라 상대 분포 정합성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444444"/>
                </a:solidFill>
                <a:latin typeface="Malgun Gothic"/>
              </a:rPr>
              <a:t>•  탐색 온도는 ‘이미 도달한 셀 내부’의 행동 다양성만 키움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E75B6"/>
                </a:solidFill>
                <a:latin typeface="Malgun Gothic"/>
              </a:rPr>
              <a:t>•  셀 자체의 도달 확률은 바꾸지 못함 → 천장은 환경이 결정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4. 반대 증거 — 상대 분포만 바꾸니 천장이 움직였다</a:t>
            </a:r>
          </a:p>
          <a:p>
            <a:r>
              <a:rPr sz="1400" b="0">
                <a:solidFill>
                  <a:srgbClr val="CFDDEC"/>
                </a:solidFill>
                <a:latin typeface="Malgun Gothic"/>
              </a:rPr>
              <a:t>알고리즘 수정 없이 ‘학습 상대 분포’만 다양화 (각 2M 에피소드, 100k×5 평가)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Run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vs Random (mbb/g, SD)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vs 고정 TAG (mbb/g, SD)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판정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26a LAG 단일 (참고)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−650.4 (19.3)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+924.4 (12.2)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vs Random 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26c STA 단일 (참고)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−674.9 (6.5)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+774.3 (1.4)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444444"/>
                          </a:solidFill>
                          <a:latin typeface="Malgun Gothic"/>
                        </a:rPr>
                        <a:t>vs Random 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27a CYCLE (순환)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+681.3 (51.4)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+868.3 (12.1)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동시 흑자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27b MIXED (확률혼합)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+1083.9 (110.5)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+885.2 (10.9)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Malgun Gothic"/>
                        </a:rPr>
                        <a:t>동시 흑자</a:t>
                      </a:r>
                    </a:p>
                  </a:txBody>
                  <a:tcPr>
                    <a:solidFill>
                      <a:srgbClr val="E7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02920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E7D32"/>
                </a:solidFill>
                <a:latin typeface="Malgun Gothic"/>
              </a:rPr>
              <a:t>•  적자였던 LAG·STA를 학습 분포에 섞으니 두 상대 모두 동시 흑자 → 분포 강건성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444444"/>
                </a:solidFill>
                <a:latin typeface="Malgun Gothic"/>
              </a:rPr>
              <a:t>•  27b vs Random 하한 1083.9 − 3×110.5 = 752.4 &gt; 0 → 부호 안정성 확보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5. 논의 — 무엇을 주장하고, 무엇을 주장하지 않는가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2E7D32"/>
                </a:solidFill>
                <a:latin typeface="Malgun Gothic"/>
              </a:rPr>
              <a:t>•  주장하는 것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시험한 레버(예산·탐색·커버리지) 중 ‘상대 전이 분포’만 천장을 움직였다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커버리지 통제권이 학습자 → 환경으로 넘어가는 경계 조건을 실증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기존 집중성/커버리지 이론과 ‘일치’ — 숨은 전제(통제권=학습자)를 명료화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C0392B"/>
                </a:solidFill>
                <a:latin typeface="Malgun Gothic"/>
              </a:rPr>
              <a:t>•  주장하지 않는 것 (정직한 한계)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‘전이 분포가 천장을 유일하게 결정한다’는 강한 명제 → 범위 밖</a:t>
            </a:r>
          </a:p>
          <a:p>
            <a:pPr lvl="1">
              <a:spcAft>
                <a:spcPts val="900"/>
              </a:spcAft>
            </a:pPr>
            <a:r>
              <a:rPr sz="1400" b="0">
                <a:solidFill>
                  <a:srgbClr val="444444"/>
                </a:solidFill>
                <a:latin typeface="Malgun Gothic"/>
              </a:rPr>
              <a:t>–  본 결과는 tabular · on-policy MC 한정 조건부 명제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2E75B6"/>
                </a:solidFill>
                <a:latin typeface="Malgun Gothic"/>
              </a:rPr>
              <a:t>•  기여 성격: 경계 조건 명료화 + 실증적·해석적 신규성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6. 결론 및 향후 과제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A5F"/>
                </a:solidFill>
                <a:latin typeface="Malgun Gothic"/>
              </a:rPr>
              <a:t>•  결론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256셀 전수 측정으로 ‘탐색 강화 = 커버리지 확장’ 통념을 조건부 기각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고정 상대가 외생적으로 커버리지 천장을 결정함을 실증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흑자의 원천은 커버리지 넓이가 아니라 상대 분포 정합성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E75B6"/>
                </a:solidFill>
                <a:latin typeface="Malgun Gothic"/>
              </a:rPr>
              <a:t>•  향후 과제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버킷 세분화(8→16) 후에도 빈 셀이 상대 종속으로 남는지 재확인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함수 근사 / off-policy(CFR 계열) / 리그 self-play 등 미검증 레버 시험</a:t>
            </a:r>
          </a:p>
          <a:p>
            <a:pPr lvl="1">
              <a:spcAft>
                <a:spcPts val="1000"/>
              </a:spcAft>
            </a:pPr>
            <a:r>
              <a:rPr sz="1500" b="0">
                <a:solidFill>
                  <a:srgbClr val="444444"/>
                </a:solidFill>
                <a:latin typeface="Malgun Gothic"/>
              </a:rPr>
              <a:t>–  상대도 학습하는 다중 에이전트 환경에서 통제권 이동 재현 여부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예상 질문 (Backup)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728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 b="1" dirty="0">
                <a:solidFill>
                  <a:srgbClr val="1F3A5F"/>
                </a:solidFill>
                <a:latin typeface="Malgun Gothic"/>
              </a:rPr>
              <a:t>•  Q. 왜 Q-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learning이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아니라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Monte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Carlo인가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?</a:t>
            </a:r>
          </a:p>
          <a:p>
            <a:pPr lvl="1">
              <a:spcAft>
                <a:spcPts val="900"/>
              </a:spcAft>
            </a:pPr>
            <a:r>
              <a:rPr sz="1400" b="0" dirty="0">
                <a:solidFill>
                  <a:srgbClr val="444444"/>
                </a:solidFill>
                <a:latin typeface="Malgun Gothic"/>
              </a:rPr>
              <a:t>–  A.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부트스트랩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오차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배제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,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실제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리턴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G로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갱신해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도달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분리를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깨끗하게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 b="1" dirty="0">
                <a:solidFill>
                  <a:srgbClr val="1F3A5F"/>
                </a:solidFill>
                <a:latin typeface="Malgun Gothic"/>
              </a:rPr>
              <a:t>•  Q. 256셀은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과한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추상화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아닌가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?</a:t>
            </a:r>
          </a:p>
          <a:p>
            <a:pPr lvl="1">
              <a:spcAft>
                <a:spcPts val="900"/>
              </a:spcAft>
            </a:pPr>
            <a:r>
              <a:rPr sz="1400" b="0" dirty="0">
                <a:solidFill>
                  <a:srgbClr val="444444"/>
                </a:solidFill>
                <a:latin typeface="Malgun Gothic"/>
              </a:rPr>
              <a:t>–  A.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근사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오차를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배제해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환경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차단을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분리하려는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의도적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통제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세분화는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향후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과제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 b="1" dirty="0">
                <a:solidFill>
                  <a:srgbClr val="1F3A5F"/>
                </a:solidFill>
                <a:latin typeface="Malgun Gothic"/>
              </a:rPr>
              <a:t>•  Q.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다중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에이전트면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결과가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달라지지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않나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?</a:t>
            </a:r>
          </a:p>
          <a:p>
            <a:pPr lvl="1">
              <a:spcAft>
                <a:spcPts val="900"/>
              </a:spcAft>
            </a:pPr>
            <a:r>
              <a:rPr sz="1400" b="0" dirty="0">
                <a:solidFill>
                  <a:srgbClr val="444444"/>
                </a:solidFill>
                <a:latin typeface="Malgun Gothic"/>
              </a:rPr>
              <a:t>–  A. 본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명제는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단일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에이전트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MDP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한정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다중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에이전트는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향후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검증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대상으로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명시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600" b="1" dirty="0">
                <a:solidFill>
                  <a:srgbClr val="1F3A5F"/>
                </a:solidFill>
                <a:latin typeface="Malgun Gothic"/>
              </a:rPr>
              <a:t>•  Q. ‘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유일성’은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어떻게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1F3A5F"/>
                </a:solidFill>
                <a:latin typeface="Malgun Gothic"/>
              </a:rPr>
              <a:t>보장하나</a:t>
            </a:r>
            <a:r>
              <a:rPr sz="1600" b="1" dirty="0">
                <a:solidFill>
                  <a:srgbClr val="1F3A5F"/>
                </a:solidFill>
                <a:latin typeface="Malgun Gothic"/>
              </a:rPr>
              <a:t>?</a:t>
            </a:r>
          </a:p>
          <a:p>
            <a:pPr lvl="1">
              <a:spcAft>
                <a:spcPts val="900"/>
              </a:spcAft>
            </a:pPr>
            <a:r>
              <a:rPr sz="1400" b="0" dirty="0">
                <a:solidFill>
                  <a:srgbClr val="444444"/>
                </a:solidFill>
                <a:latin typeface="Malgun Gothic"/>
              </a:rPr>
              <a:t>–  A.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보장하지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않음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강한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명제는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범위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밖이며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조건부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명제로만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444444"/>
                </a:solidFill>
                <a:latin typeface="Malgun Gothic"/>
              </a:rPr>
              <a:t>주장</a:t>
            </a:r>
            <a:r>
              <a:rPr sz="1400" b="0" dirty="0">
                <a:solidFill>
                  <a:srgbClr val="444444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1258</Words>
  <Application>Microsoft Office PowerPoint</Application>
  <PresentationFormat>와이드스크린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301</cp:lastModifiedBy>
  <cp:revision>2</cp:revision>
  <dcterms:created xsi:type="dcterms:W3CDTF">2013-01-27T09:14:16Z</dcterms:created>
  <dcterms:modified xsi:type="dcterms:W3CDTF">2026-06-03T15:40:36Z</dcterms:modified>
  <cp:category/>
</cp:coreProperties>
</file>