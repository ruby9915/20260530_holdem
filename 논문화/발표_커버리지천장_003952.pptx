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한 줄: 시험한 레버(예산·탐색·커버리지) 중에서는 상대가 만드는 전이 분포만이 성능 천장을 움직였다. tabular·on-policy MC 한정 조건부 명제임을 처음부터 명확히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과장하지 않는다는 점을 먼저 못박는다. 조건부 명제, 경계 조건 명료화 + 실증적·해석적 신규성이 우리의 기여다.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질문이 연구 전체의 출발점. 다음 슬라이드에서 둘을 분리하기 위한 실험 설계를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청중이 초반에 질문으로 끊지 않도록, 핵심 용어를 먼저 한 줄씩 보여주고 ‘이제 하나씩 설명하겠다’고 안내한다.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체스/바둑과 달리 상대 패가 안 보인다는 점이 핵심. 그래서 상대 행동이 정보를 가린 채 환경을 바꾼다. 스택/블라인드는 그냥 게임 세팅값.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‘상대가 환경’이라는 개념을 직관적으로 심는다. 뒤의 모든 실험이 이 한 문장의 증명.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추상화의 목적을 강조: 성능을 높이려는 게 아니라, 원인을 깨끗하게 분리하려는 통제 장치다.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 기준의 곱이 256. 뒤의 정밀 슬라이드(3. 상태 추상화)에서 행동 8을 곱해 2,048 셀이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‘상대=환경’ 개념의 구체화. 상대가 고정이라 P(s'|s,a)의 일부로 들어간다. 이 5종이 만드는 전이 분포 차이가 뒤 실험의 독립변수.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d^π(s)는 어려운 기호처럼 보이지만 ‘방문 빈도’일 뿐. 0번 방문 상자가 핵심 증거(45.5%)로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개념을 한 장에 압축. ‘온도’가 곧 탐색 강도 손잡이라는 점을 강조 → 뒤 6-B 실험과 직결. mbb/g 부호(+/−)만 읽으면 결과 표를 이해할 수 있다고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방법론적 강점: 256셀 exact 측정으로 도달 실패의 원인을 수리적으로 분리한다.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cardinality를 정확히: 256 컨텍스트 안에 핸드버킷 8이 인수로 들어가 있고, 행동 8을 곱해 총 2,048 셀이다.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대비: 코드에 update_q(Q-learning)도 있으나 미사용. 실제 사용은 update_mc. 정확한 명칭은 'tabular on-policy Monte Carlo control with softmax exploration'.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처방 모두 천장을 못 움직였다. 병목은 탐색 강도가 아니라 상대가 만드는 전이 분포.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세 숫자가 처방 3종 기각의 핵심 증거. 수치는 절대 바꾸지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처방으로 안 움직이던 천장이 ‘상대 분포’ 레버로 움직였다는 결정적 대조. 표의 모든 수치 고정.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honesty의 핵심. 결론에서도 이 hedge를 절대 깨지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결론도 '조건부 기각'으로 못박는다. 다중 에이전트는 향후 일반화 함의로만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시간 부족하면 생략, 질문 들어오면 표시.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Malgun Gothic"/>
              </a:rPr>
              <a:t>고정 상대 하 Tabular On-policy 몬테카를로에서의
커버리지 천장 실증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CFDDEC"/>
                </a:solidFill>
                <a:latin typeface="Malgun Gothic"/>
              </a:rPr>
              <a:t>탐색을 강화해도 천장은 움직이지 않는다 — 환경(고정 상대)이 천장을 결정한다</a:t>
            </a:r>
          </a:p>
          <a:p>
            <a:pPr>
              <a:spcBef>
                <a:spcPts val="2400"/>
              </a:spcBef>
            </a:pPr>
            <a:r>
              <a:rPr sz="1500" b="0">
                <a:solidFill>
                  <a:srgbClr val="9FB6CE"/>
                </a:solidFill>
                <a:latin typeface="Malgun Gothic"/>
              </a:rPr>
              <a:t>강화학습 기말 발표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핵심 주장 한 줄</a:t>
            </a:r>
          </a:p>
          <a:p>
            <a:r>
              <a:rPr sz="1400" b="0">
                <a:solidFill>
                  <a:srgbClr val="CFDDEC"/>
                </a:solidFill>
                <a:latin typeface="Malgun Gothic"/>
              </a:rPr>
              <a:t>이 발표의 모든 슬라이드는 이 문장으로 수렴한다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011680"/>
            <a:ext cx="10515600" cy="1737360"/>
          </a:xfrm>
          <a:prstGeom prst="rect">
            <a:avLst/>
          </a:prstGeom>
          <a:solidFill>
            <a:srgbClr val="EEF3F8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/>
            <a:r>
              <a:rPr sz="2200" b="1">
                <a:solidFill>
                  <a:srgbClr val="1F3A5F"/>
                </a:solidFill>
                <a:latin typeface="Malgun Gothic"/>
              </a:rPr>
              <a:t>“탐색을 키워도 커버리지 천장은 불변하고, 고정 상대(환경)가 천장을 결정한다.”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2336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E75B6"/>
                </a:solidFill>
                <a:latin typeface="Malgun Gothic"/>
              </a:rPr>
              <a:t>•  단, tabular · on-policy Monte Carlo 환경에 한정된 조건부 명제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444444"/>
                </a:solidFill>
                <a:latin typeface="Malgun Gothic"/>
              </a:rPr>
              <a:t>•  ‘유일하게 결정한다’는 강한 명제는 본 연구 범위 밖 → 정직한 한계로 명시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1. 문제 제기 — 탐색 실패는 정말 ‘에이전트 탓’인가?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444444"/>
                </a:solidFill>
                <a:latin typeface="Malgun Gothic"/>
              </a:rPr>
              <a:t>•  통념: 탐색이 실패하면 원인을 학습자 측 결함으로 귀속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탐색 알고리즘의 한계 / 데이터 커버리지 부족 / 신경망 함수 근사 오차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44444"/>
                </a:solidFill>
                <a:latin typeface="Malgun Gothic"/>
              </a:rPr>
              <a:t>•  그러나 불완전정보 게임에서는 다른 일이 벌어질 수 있다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상대의 은닉된 의사결정이 상태 전이 P(s'|s,a)를 직접 좌우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환경(상대)이 특정 상태로의 전이 경로를 원천적으로 닫으면,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학습자가 탐색을 아무리 키워도 그 상태 도달이 물리적으로 불가능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E75B6"/>
                </a:solidFill>
                <a:latin typeface="Malgun Gothic"/>
              </a:rPr>
              <a:t>•  질문: 도달 실패가 ‘알고리즘 탓’인가, ‘환경의 구조적 차단’인가?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잠깐 — 오늘 나올 용어 미리 보기</a:t>
            </a:r>
          </a:p>
          <a:p>
            <a:r>
              <a:rPr sz="1400" b="0">
                <a:solidFill>
                  <a:srgbClr val="CFDDEC"/>
                </a:solidFill>
                <a:latin typeface="Malgun Gothic"/>
              </a:rPr>
              <a:t>‘그게 뭔가요?’가 나올 단어를 먼저 한 줄씩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444444"/>
                </a:solidFill>
                <a:latin typeface="Malgun Gothic"/>
              </a:rPr>
              <a:t>•  HUNL 포커: 1:1로 겨루는 노리밋 텍사스 홀덤 (우리의 실험장)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44444"/>
                </a:solidFill>
                <a:latin typeface="Malgun Gothic"/>
              </a:rPr>
              <a:t>•  상태/컨텍스트: 게임의 ‘상황’을 분류한 상자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44444"/>
                </a:solidFill>
                <a:latin typeface="Malgun Gothic"/>
              </a:rPr>
              <a:t>•  추상화: 거의 무한한 상황을 256개 상자로 압축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44444"/>
                </a:solidFill>
                <a:latin typeface="Malgun Gothic"/>
              </a:rPr>
              <a:t>•  고정 상대(페르소나): 학습하지 않는 정해진 스타일의 상대 = 환경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44444"/>
                </a:solidFill>
                <a:latin typeface="Malgun Gothic"/>
              </a:rPr>
              <a:t>•  도달 분포 d^π(s): 각 상자에 ‘얼마나 자주 가는지’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44444"/>
                </a:solidFill>
                <a:latin typeface="Malgun Gothic"/>
              </a:rPr>
              <a:t>•  몬테카를로 학습: 한 판을 끝까지 가보고 그 결과로 배움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44444"/>
                </a:solidFill>
                <a:latin typeface="Malgun Gothic"/>
              </a:rPr>
              <a:t>•  mbb/g: 한 판당 얼마나 따고 잃는지 재는 단위</a:t>
            </a:r>
          </a:p>
          <a:p>
            <a:pPr lvl="1">
              <a:spcAft>
                <a:spcPts val="1000"/>
              </a:spcAft>
            </a:pPr>
            <a:r>
              <a:rPr sz="1500" b="1">
                <a:solidFill>
                  <a:srgbClr val="2E75B6"/>
                </a:solidFill>
                <a:latin typeface="Malgun Gothic"/>
              </a:rPr>
              <a:t>–  → 지금부터 이 7개를 하나씩 그림으로 설명합니다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0-1. 실험장 — HUNL 포커가 뭔가요?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F3A5F"/>
                </a:solidFill>
                <a:latin typeface="Malgun Gothic"/>
              </a:rPr>
              <a:t>•  HUNL = Heads-Up No-Limit Hold’em (헤즈업 노리밋 홀덤)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헤즈업: 딱 두 명이 1:1로 대결 (멀티플레이어 아님 → 분석이 깨끗)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노리밋: 베팅 금액에 상한이 없음 (올인까지 가능)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444444"/>
                </a:solidFill>
                <a:latin typeface="Malgun Gothic"/>
              </a:rPr>
              <a:t>•  한 판의 흐름: 4개의 라운드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Preflop → Flop → Turn → River (카드가 점점 공개됨)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각 라운드에서 폴드/체크/콜/레이즈 중 선택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E75B6"/>
                </a:solidFill>
                <a:latin typeface="Malgun Gothic"/>
              </a:rPr>
              <a:t>•  왜 포커?  상대의 패가 ‘숨겨져’ 있는 불완전정보 게임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시작 스택 200, 작은블라인드(SB)=1 / 큰블라인드(BB)=2, pokerkit 엔진 사용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0-2. 왜 ‘불완전정보’가 이 연구의 열쇠인가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444444"/>
                </a:solidFill>
                <a:latin typeface="Malgun Gothic"/>
              </a:rPr>
              <a:t>•  체스·바둑: 판이 다 보임 → 내가 탐색하면 어디든 갈 수 있음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C0392B"/>
                </a:solidFill>
                <a:latin typeface="Malgun Gothic"/>
              </a:rPr>
              <a:t>•  포커: 상대 패와 의도가 숨겨져 있음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상대가 특정 행동(예: 항상 폴드)을 하면 어떤 상황은 ‘아예 안 생김’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내가 아무리 다양하게 시도해도 그 상황엔 도달 불가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E75B6"/>
                </a:solidFill>
                <a:latin typeface="Malgun Gothic"/>
              </a:rPr>
              <a:t>•  즉, 상대(=환경)가 ‘갈 수 있는 상황의 범위’를 정해버림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이 발표의 핵심 현상: 탐색이 아니라 상대가 천장을 만든다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0-3. 상태·컨텍스트·추상화 — 상황을 ‘상자’에 넣기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444444"/>
                </a:solidFill>
                <a:latin typeface="Malgun Gothic"/>
              </a:rPr>
              <a:t>•  문제: 포커의 실제 상황 수는 천문학적 (카드 조합 폭발)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E7D32"/>
                </a:solidFill>
                <a:latin typeface="Malgun Gothic"/>
              </a:rPr>
              <a:t>•  아이디어: 비슷한 상황을 묶어 ‘상자(컨텍스트)’ 하나로 취급</a:t>
            </a:r>
          </a:p>
          <a:p>
            <a:pPr lvl="1">
              <a:spcAft>
                <a:spcPts val="11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예: ‘리버에서 / 좋은 패로 / 선공 위치 / 상대가 작게 레이즈한’ 상황 = 상자 1개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E75B6"/>
                </a:solidFill>
                <a:latin typeface="Malgun Gothic"/>
              </a:rPr>
              <a:t>•  왜 이렇게까지 줄이나? — 신경망의 ‘근사 오차’를 없애려고</a:t>
            </a:r>
          </a:p>
          <a:p>
            <a:pPr lvl="1">
              <a:spcAft>
                <a:spcPts val="11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신경망을 쓰면 ‘학습 실패’가 알고리즘 탓인지 환경 탓인지 구분 불가</a:t>
            </a:r>
          </a:p>
          <a:p>
            <a:pPr lvl="1">
              <a:spcAft>
                <a:spcPts val="11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상자를 256개로 고정하면 각 상자 방문 횟수를 ‘정확히’ 셀 수 있음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444444"/>
                </a:solidFill>
                <a:latin typeface="Malgun Gothic"/>
              </a:rPr>
              <a:t>•  이렇게 단순화한 표(table) 위에서 학습 → ‘tabular’ 방식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0-4. 상자를 나누는 4가지 기준 (→ 256개)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Malgun Gothic"/>
              </a:rPr>
              <a:t>•  ① 라운드 (4가지): 지금 몇 번째 베팅 단계인가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Preflop / Flop / Turn / River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Malgun Gothic"/>
              </a:rPr>
              <a:t>•  ② 핸드버킷 (8가지): 내 패가 얼마나 좋은가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PREMIUM(최상) → STRONG → … → POOR → TRASH(최악)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Malgun Gothic"/>
              </a:rPr>
              <a:t>•  ③ 위치 (2가지): 내가 선공인가 후공인가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BB(빅블라인드) / SB(스몰블라인드)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F3A5F"/>
                </a:solidFill>
                <a:latin typeface="Malgun Gothic"/>
              </a:rPr>
              <a:t>•  ④ 직전 행동 (4가지): 상대가 방금 뭘 했나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없음 / 체크·콜 / 작은레이즈 / 큰레이즈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2E7D32"/>
                </a:solidFill>
                <a:latin typeface="Malgun Gothic"/>
              </a:rPr>
              <a:t>•  4 × 8 × 2 × 4 = 256개의 상황 상자(컨텍스트)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0-5. 고정 상대(페르소나) — 학습하지 않는 ‘환경’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2E75B6"/>
                </a:solidFill>
                <a:latin typeface="Malgun Gothic"/>
              </a:rPr>
              <a:t>•  상대는 학습하지 않음 → 정해진 스타일대로만 행동 (스크립트)</a:t>
            </a:r>
          </a:p>
          <a:p>
            <a:pPr lvl="1">
              <a:spcAft>
                <a:spcPts val="11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그래서 상대는 ‘적’이 아니라 고정된 환경 규칙처럼 작동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F3A5F"/>
                </a:solidFill>
                <a:latin typeface="Malgun Gothic"/>
              </a:rPr>
              <a:t>•  5종 스타일(페르소나):</a:t>
            </a:r>
          </a:p>
          <a:p>
            <a:pPr lvl="1">
              <a:spcAft>
                <a:spcPts val="11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TAG: 타이트-공격 / LAG: 루즈-공격 / MAN: 매니악(과격)</a:t>
            </a:r>
          </a:p>
          <a:p>
            <a:pPr lvl="1">
              <a:spcAft>
                <a:spcPts val="11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STA: 콜링스테이션(잘 안 폴드) / NIT: 극단 보수(거의 폴드)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2E7D32"/>
                </a:solidFill>
                <a:latin typeface="Malgun Gothic"/>
              </a:rPr>
              <a:t>•  상대 스타일이 ‘어떤 상황이 생기는지’를 결정</a:t>
            </a:r>
          </a:p>
          <a:p>
            <a:pPr lvl="1">
              <a:spcAft>
                <a:spcPts val="11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예: NIT은 자주 폴드 → 특정 공격 상황 자체가 안 만들어짐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0-6. 도달 분포 d^π(s) — 각 상자에 얼마나 자주 가나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1F3A5F"/>
                </a:solidFill>
                <a:latin typeface="Malgun Gothic"/>
              </a:rPr>
              <a:t>•  d^π(s): 정책 π로 플레이할 때 상태(상자) s를 방문하는 빈도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쉽게: 256개 상자 각각에 ‘방문 도장’이 몇 번 찍히나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C0392B"/>
                </a:solidFill>
                <a:latin typeface="Malgun Gothic"/>
              </a:rPr>
              <a:t>•  도장이 0번인 상자 = 한 번도 못 간 상황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표본이 없으니 학습 자체가 불가능 (배울 데이터가 없음)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E7D32"/>
                </a:solidFill>
                <a:latin typeface="Malgun Gothic"/>
              </a:rPr>
              <a:t>•  우리는 신경망이 아니라 표라서 이 빈도를 ‘정확히’ 셀 수 있음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→ ‘못 간 상황’이 알고리즘 탓이 아니라 상대 탓임을 분리 증명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0-7. 학습 방식과 평가 단위 — 직관만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1F3A5F"/>
                </a:solidFill>
                <a:latin typeface="Malgun Gothic"/>
              </a:rPr>
              <a:t>•  몬테카를로(MC) 학습: 한 판을 ‘끝까지’ 가보고 최종 결과로 배움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Q-learning과 차이: 중간값 추정(부트스트랩) 없이 실제 결과만 사용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→ 추정 오차가 안 섞여서 ‘환경 탓’ 분리가 더 깨끗함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3A5F"/>
                </a:solidFill>
                <a:latin typeface="Malgun Gothic"/>
              </a:rPr>
              <a:t>•  Softmax 탐색 + 온도(T): 얼마나 ‘모험적으로’ 행동할지 손잡이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온도 높음=다양하게 시도 / 낮음=잘하던 것 위주 (10.0→0.5로 감소)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3A5F"/>
                </a:solidFill>
                <a:latin typeface="Malgun Gothic"/>
              </a:rPr>
              <a:t>•  mbb/g: 성능 단위 (한 판당 빅블라인드의 1/1000을 얼마나 벌었나)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+면 이득, −면 손해. 예: +1083.9면 크게 이득, −650.4면 크게 손해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2. 설계 아이디어 — 근사 오차를 제거한 통제 환경</a:t>
            </a:r>
          </a:p>
          <a:p>
            <a:r>
              <a:rPr sz="1400" b="0">
                <a:solidFill>
                  <a:srgbClr val="CFDDEC"/>
                </a:solidFill>
                <a:latin typeface="Malgun Gothic"/>
              </a:rPr>
              <a:t>(앞의 0-3 직관을 정식으로 정리)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444444"/>
                </a:solidFill>
                <a:latin typeface="Malgun Gothic"/>
              </a:rPr>
              <a:t>•  심층 신경망은 ‘일반화 실패’와 ‘환경 차단’을 분리할 수 없음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E7D32"/>
                </a:solidFill>
                <a:latin typeface="Malgun Gothic"/>
              </a:rPr>
              <a:t>•  해결: HUNL을 순수 표-기반(tabular) 환경으로 극단 추상화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근사 오차가 개입할 수 없는 통제 조건 확보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상태 도달 분포 d^π(s)를 셀 단위로 전수(exact) 측정 가능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444444"/>
                </a:solidFill>
                <a:latin typeface="Malgun Gothic"/>
              </a:rPr>
              <a:t>•  이로써 커버리지 한계의 원인을 깨끗하게 분리 관측</a:t>
            </a:r>
          </a:p>
          <a:p>
            <a:pPr lvl="1">
              <a:spcAft>
                <a:spcPts val="12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= 고정 상대가 만드는 외생적 전이 분포에 병목이 있는가?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3. 상태 추상화 — 256 컨텍스트 × 8 행동 = 2,048 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2468880" cy="1097280"/>
          </a:xfrm>
          <a:prstGeom prst="rect">
            <a:avLst/>
          </a:prstGeom>
          <a:solidFill>
            <a:srgbClr val="EEF3F8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라운드 (4)</a:t>
            </a:r>
          </a:p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Preflop/Flop/Turn/River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463040"/>
            <a:ext cx="2468880" cy="1097280"/>
          </a:xfrm>
          <a:prstGeom prst="rect">
            <a:avLst/>
          </a:prstGeom>
          <a:solidFill>
            <a:srgbClr val="EEF3F8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핸드버킷 (8)</a:t>
            </a:r>
          </a:p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PREMIUM…TRASH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463040"/>
            <a:ext cx="2468880" cy="1097280"/>
          </a:xfrm>
          <a:prstGeom prst="rect">
            <a:avLst/>
          </a:prstGeom>
          <a:solidFill>
            <a:srgbClr val="EEF3F8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위치 (2)</a:t>
            </a:r>
          </a:p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BB / SB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463040"/>
            <a:ext cx="2468880" cy="1097280"/>
          </a:xfrm>
          <a:prstGeom prst="rect">
            <a:avLst/>
          </a:prstGeom>
          <a:solidFill>
            <a:srgbClr val="EEF3F8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직전행동 (4)</a:t>
            </a:r>
          </a:p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NONE/CC/SR/BR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E75B6"/>
                </a:solidFill>
                <a:latin typeface="Malgun Gothic"/>
              </a:rPr>
              <a:t>4 × 8 × 2 × 4 = 256 컨텍스트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474720"/>
            <a:ext cx="2468880" cy="1005840"/>
          </a:xfrm>
          <a:prstGeom prst="rect">
            <a:avLst/>
          </a:prstGeom>
          <a:solidFill>
            <a:srgbClr val="E7F1E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행동 (8)</a:t>
            </a:r>
          </a:p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FOLD/CHECK/CALL/R25/50/75/100/ALLIN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474720"/>
            <a:ext cx="5486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Malgun Gothic"/>
              </a:rPr>
              <a:t>256 × 8 = 2,048 셀  → d^π(s) 전수 측정 대상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•  도메인: HUNL, 시작스택 200, SB=1/BB=2, pokerkit 엔진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•  핸드버킷은 256 컨텍스트 안에 이미 포함 (별도 추가 아님)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3. 학습 알고리즘 — On-policy Monte Carlo (Q-learning 아님)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800" b="1">
                <a:solidFill>
                  <a:srgbClr val="444444"/>
                </a:solidFill>
                <a:latin typeface="Malgun Gothic"/>
              </a:rPr>
              <a:t>•  Q-table 자료구조를 on-policy Monte Carlo로 갱신</a:t>
            </a:r>
          </a:p>
          <a:p>
            <a:pPr lvl="1">
              <a:spcAft>
                <a:spcPts val="11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갱신식:  Q(s,a) ← Q(s,a) + α · ( G − Q(s,a) )   (부트스트랩 없음)</a:t>
            </a:r>
          </a:p>
          <a:p>
            <a:pPr lvl="1">
              <a:spcAft>
                <a:spcPts val="11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에피소드 실제 리턴 G로 갱신 → off-policy Q-learning 부트스트랩 미사용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444444"/>
                </a:solidFill>
                <a:latin typeface="Malgun Gothic"/>
              </a:rPr>
              <a:t>•  탐색: Softmax (온도 10.0 → 0.5, 학습 전반 80% 구간 선형 감쇠)</a:t>
            </a:r>
          </a:p>
          <a:p>
            <a:pPr lvl="1">
              <a:spcAft>
                <a:spcPts val="11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PrevAction 특징 포함, CHECK=1chip 처리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444444"/>
                </a:solidFill>
                <a:latin typeface="Malgun Gothic"/>
              </a:rPr>
              <a:t>•  하이퍼파라미터: α=0.1, γ=0.9, seed=42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444444"/>
                </a:solidFill>
                <a:latin typeface="Malgun Gothic"/>
              </a:rPr>
              <a:t>•  평가: 어댑터 끈 raw-greedy, 100k 핸드 × 다중 시드, 학습/평가 분리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4. 통념적 처방 3종을 차례로 적용 → 모두 기각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444444"/>
                </a:solidFill>
                <a:latin typeface="Malgun Gothic"/>
              </a:rPr>
              <a:t>•  미방문 셀이 ‘과적합/학습부족’ 때문이라는 의심을 검증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C0392B"/>
                </a:solidFill>
                <a:latin typeface="Malgun Gothic"/>
              </a:rPr>
              <a:t>•  [6-A] 예산 부족 가설 → 기각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도달 확률이 정확히 0인 셀이 전체의 45.5% (T-UNREACH, 버그 아님)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예산을 무한히 늘려도 리턴 표본이 없어 갱신 0회 → 안 채워짐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C0392B"/>
                </a:solidFill>
                <a:latin typeface="Malgun Gothic"/>
              </a:rPr>
              <a:t>•  [6-B] 탐색(온도) 강화 가설 → 기각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온도 4방향 스윕에도 미학습 컨텍스트 67 → 68/71/72 (거의 불변)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C0392B"/>
                </a:solidFill>
                <a:latin typeface="Malgun Gothic"/>
              </a:rPr>
              <a:t>•  [6-C] ‘넓은 커버리지=흑자’ 가설 → 기각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흑자 run이 baseline보다 미학습 셀이 오히려 더 많은 경우 관측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4. 핵심 수치 — 탐색을 흔들어도 천장은 불변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828800"/>
            <a:ext cx="3383280" cy="2194560"/>
          </a:xfrm>
          <a:prstGeom prst="rect">
            <a:avLst/>
          </a:prstGeom>
          <a:solidFill>
            <a:srgbClr val="EEF3F8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C0392B"/>
                </a:solidFill>
                <a:latin typeface="Malgun Gothic"/>
              </a:rPr>
              <a:t>45.5%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Malgun Gothic"/>
              </a:rPr>
              <a:t>도달 확률 0인 셀 비율
(예산으로 못 채움)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828800"/>
            <a:ext cx="3383280" cy="2194560"/>
          </a:xfrm>
          <a:prstGeom prst="rect">
            <a:avLst/>
          </a:prstGeom>
          <a:solidFill>
            <a:srgbClr val="EEF3F8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2E75B6"/>
                </a:solidFill>
                <a:latin typeface="Malgun Gothic"/>
              </a:rPr>
              <a:t>67 → 72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Malgun Gothic"/>
              </a:rPr>
              <a:t>온도 4방향 스윕 후
미학습 컨텍스트(거의 불변)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828800"/>
            <a:ext cx="3383280" cy="2194560"/>
          </a:xfrm>
          <a:prstGeom prst="rect">
            <a:avLst/>
          </a:prstGeom>
          <a:solidFill>
            <a:srgbClr val="EEF3F8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2E7D32"/>
                </a:solidFill>
                <a:latin typeface="Malgun Gothic"/>
              </a:rPr>
              <a:t>흑자 ≠ 넓이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Malgun Gothic"/>
              </a:rPr>
              <a:t>흑자 원천은 커버리지 넓이
아니라 상대 분포 정합성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444444"/>
                </a:solidFill>
                <a:latin typeface="Malgun Gothic"/>
              </a:rPr>
              <a:t>•  탐색 온도는 ‘이미 도달한 셀 내부’의 행동 다양성만 키움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E75B6"/>
                </a:solidFill>
                <a:latin typeface="Malgun Gothic"/>
              </a:rPr>
              <a:t>•  셀 자체의 도달 확률은 바꾸지 못함 → 천장은 환경이 결정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4. 반대 증거 — 상대 분포만 바꾸니 천장이 움직였다</a:t>
            </a:r>
          </a:p>
          <a:p>
            <a:r>
              <a:rPr sz="1400" b="0">
                <a:solidFill>
                  <a:srgbClr val="CFDDEC"/>
                </a:solidFill>
                <a:latin typeface="Malgun Gothic"/>
              </a:rPr>
              <a:t>알고리즘 수정 없이 ‘학습 상대 분포’만 다양화 (각 2M 에피소드, 100k×5 평가)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73736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017520"/>
                <a:gridCol w="3017520"/>
                <a:gridCol w="2103120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Run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vs Random (mbb/g, SD)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vs 고정 TAG (mbb/g, SD)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판정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Malgun Gothic"/>
                        </a:rPr>
                        <a:t>26a LAG 단일 (참고)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Malgun Gothic"/>
                        </a:rPr>
                        <a:t>−650.4 (19.3)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Malgun Gothic"/>
                        </a:rPr>
                        <a:t>+924.4 (12.2)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Malgun Gothic"/>
                        </a:rPr>
                        <a:t>vs Random 적자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Malgun Gothic"/>
                        </a:rPr>
                        <a:t>26c STA 단일 (참고)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Malgun Gothic"/>
                        </a:rPr>
                        <a:t>−674.9 (6.5)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Malgun Gothic"/>
                        </a:rPr>
                        <a:t>+774.3 (1.4)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Malgun Gothic"/>
                        </a:rPr>
                        <a:t>vs Random 적자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Malgun Gothic"/>
                        </a:rPr>
                        <a:t>27a CYCLE (순환)</a:t>
                      </a:r>
                    </a:p>
                  </a:txBody>
                  <a:tcPr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Malgun Gothic"/>
                        </a:rPr>
                        <a:t>+681.3 (51.4)</a:t>
                      </a:r>
                    </a:p>
                  </a:txBody>
                  <a:tcPr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Malgun Gothic"/>
                        </a:rPr>
                        <a:t>+868.3 (12.1)</a:t>
                      </a:r>
                    </a:p>
                  </a:txBody>
                  <a:tcPr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Malgun Gothic"/>
                        </a:rPr>
                        <a:t>동시 흑자</a:t>
                      </a:r>
                    </a:p>
                  </a:txBody>
                  <a:tcPr>
                    <a:solidFill>
                      <a:srgbClr val="E7F1E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Malgun Gothic"/>
                        </a:rPr>
                        <a:t>27b MIXED (확률혼합)</a:t>
                      </a:r>
                    </a:p>
                  </a:txBody>
                  <a:tcPr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Malgun Gothic"/>
                        </a:rPr>
                        <a:t>+1083.9 (110.5)</a:t>
                      </a:r>
                    </a:p>
                  </a:txBody>
                  <a:tcPr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Malgun Gothic"/>
                        </a:rPr>
                        <a:t>+885.2 (10.9)</a:t>
                      </a:r>
                    </a:p>
                  </a:txBody>
                  <a:tcPr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Malgun Gothic"/>
                        </a:rPr>
                        <a:t>동시 흑자</a:t>
                      </a:r>
                    </a:p>
                  </a:txBody>
                  <a:tcPr>
                    <a:solidFill>
                      <a:srgbClr val="E7F1E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0292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  <a:latin typeface="Malgun Gothic"/>
              </a:rPr>
              <a:t>•  적자였던 LAG·STA를 학습 분포에 섞으니 두 상대 모두 동시 흑자 → 분포 강건성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44444"/>
                </a:solidFill>
                <a:latin typeface="Malgun Gothic"/>
              </a:rPr>
              <a:t>•  27b vs Random 하한 1083.9 − 3×110.5 = 752.4 &gt; 0 → 부호 안정성 확보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5. 논의 — 무엇을 주장하고, 무엇을 주장하지 않는가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2E7D32"/>
                </a:solidFill>
                <a:latin typeface="Malgun Gothic"/>
              </a:rPr>
              <a:t>•  주장하는 것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시험한 레버(예산·탐색·커버리지) 중 ‘상대 전이 분포’만 천장을 움직였다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커버리지 통제권이 학습자 → 환경으로 넘어가는 경계 조건을 실증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기존 집중성/커버리지 이론과 ‘일치’ — 숨은 전제(통제권=학습자)를 명료화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Malgun Gothic"/>
              </a:rPr>
              <a:t>•  주장하지 않는 것 (정직한 한계)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‘전이 분포가 천장을 유일하게 결정한다’는 강한 명제 → 범위 밖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본 결과는 tabular · on-policy MC 한정 조건부 명제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2E75B6"/>
                </a:solidFill>
                <a:latin typeface="Malgun Gothic"/>
              </a:rPr>
              <a:t>•  기여 성격: 경계 조건 명료화 + 실증적·해석적 신규성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6. 결론 및 향후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F3A5F"/>
                </a:solidFill>
                <a:latin typeface="Malgun Gothic"/>
              </a:rPr>
              <a:t>•  결론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256셀 전수 측정으로 ‘탐색 강화 = 커버리지 확장’ 통념을 조건부 기각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고정 상대가 외생적으로 커버리지 천장을 결정함을 실증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흑자의 원천은 커버리지 넓이가 아니라 상대 분포 정합성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E75B6"/>
                </a:solidFill>
                <a:latin typeface="Malgun Gothic"/>
              </a:rPr>
              <a:t>•  향후 과제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버킷 세분화(8→16) 후에도 빈 셀이 상대 종속으로 남는지 재확인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함수 근사 / off-policy(CFR 계열) / 리그 self-play 등 미검증 레버 시험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상대도 학습하는 다중 에이전트 환경에서 통제권 이동 재현 여부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예상 질문 (Backup)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1F3A5F"/>
                </a:solidFill>
                <a:latin typeface="Malgun Gothic"/>
              </a:rPr>
              <a:t>•  Q. 왜 Q-learning이 아니라 Monte Carlo인가?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A. 부트스트랩 오차 배제, 실제 리턴 G로 갱신해 도달 분리를 깨끗하게.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3A5F"/>
                </a:solidFill>
                <a:latin typeface="Malgun Gothic"/>
              </a:rPr>
              <a:t>•  Q. 256셀은 과한 추상화 아닌가?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A. 근사 오차를 배제해 환경 차단을 분리하려는 의도적 통제. 세분화는 향후 과제.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3A5F"/>
                </a:solidFill>
                <a:latin typeface="Malgun Gothic"/>
              </a:rPr>
              <a:t>•  Q. 다중 에이전트면 결과가 달라지지 않나?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A. 본 명제는 단일 에이전트 MDP 한정. 다중 에이전트는 향후 검증 대상으로 명시.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F3A5F"/>
                </a:solidFill>
                <a:latin typeface="Malgun Gothic"/>
              </a:rPr>
              <a:t>•  Q. ‘유일성’은 어떻게 보장하나?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A. 보장하지 않음. 강한 명제는 범위 밖이며 조건부 명제로만 주장.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